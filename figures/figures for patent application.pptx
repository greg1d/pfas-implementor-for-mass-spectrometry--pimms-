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42433"/>
    <a:srgbClr val="156082"/>
    <a:srgbClr val="114D69"/>
    <a:srgbClr val="1C440D"/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462" autoAdjust="0"/>
  </p:normalViewPr>
  <p:slideViewPr>
    <p:cSldViewPr snapToGrid="0">
      <p:cViewPr varScale="1">
        <p:scale>
          <a:sx n="102" d="100"/>
          <a:sy n="102" d="100"/>
        </p:scale>
        <p:origin x="69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03219-7521-1F77-CF9B-301D85298D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252C0A-968E-B333-F178-730C57EC52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21B9ED-43F0-2B9C-3207-622D3DA44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45976-3FE5-4A9F-9859-FC8472DD523D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EFB40B-829D-2432-202D-39841F7AE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71D929-E166-1AAB-2614-26A6A3CCD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B2ECB-C66E-4E39-A63B-0F7285DEC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056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05856-6383-5B42-E4CB-71F3CBB21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E7689-DCB8-23F1-349F-B9E8B8DB28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4A886E-A778-2877-AD84-64FE5A495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45976-3FE5-4A9F-9859-FC8472DD523D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0A82A4-2D70-7AB7-32DF-4970ECA80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0A3C1C-BA02-E881-649A-9554729F1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B2ECB-C66E-4E39-A63B-0F7285DEC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159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A3E7E-4489-217C-208D-76DD0C33B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4EF61D-D1EF-905E-CE20-5B4BE6649E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F7D1D5-9195-7FBF-1ED3-06DF254E8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45976-3FE5-4A9F-9859-FC8472DD523D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ADD514-D018-4AC6-4512-003F6B03C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C8F9F1-CC47-D0E9-0C0F-01C607C00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B2ECB-C66E-4E39-A63B-0F7285DEC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948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033E1-82FC-1AF5-EE5C-31A948335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BFBB1-1535-86A9-2266-23FD3FDC50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AEC32E-B1E8-1158-CB77-7BEABCE8D6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5CEF37-3310-253B-4E13-0173F2B62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45976-3FE5-4A9F-9859-FC8472DD523D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F763AB-454D-86AD-26A2-89EB8E53D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B71D82-6C51-5611-1107-AE27AE5AC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B2ECB-C66E-4E39-A63B-0F7285DEC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960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8DB89-4660-6ABF-2D8D-EB12DFDC4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4FD25F-160A-06E4-CDBE-42ABED6506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8665F0-AEC9-BB89-3A76-69791D5183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DA79BE-EC3F-4510-BF8D-E471DAE800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502FDF-EC78-1ADB-1191-6076709DF3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DC2BC3-4431-9F51-79B1-7EDABE8D9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45976-3FE5-4A9F-9859-FC8472DD523D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4CDD1C-7870-4E41-4F1B-AD50B636A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6131B8-17D2-2AE1-CFCC-48E86C716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B2ECB-C66E-4E39-A63B-0F7285DEC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418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C1FE2-7686-63D2-86C5-CBD69596A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600556-2C19-F31D-BB43-05E45AB7B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45976-3FE5-4A9F-9859-FC8472DD523D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B29420-A4E8-CE8E-BEF7-A395D3834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FEE214-1130-DC7A-8142-CBA782284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B2ECB-C66E-4E39-A63B-0F7285DEC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342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5FE676-8AF8-BC18-C027-D9BF95C00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45976-3FE5-4A9F-9859-FC8472DD523D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0E1F5A-165E-B119-B2A1-FE76A5A6A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2B1211-33AA-C44A-1249-D1C35640C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B2ECB-C66E-4E39-A63B-0F7285DEC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912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CDBD5-5A52-138D-4565-AB37BF18A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40DA5-A02D-A380-72FA-E0CE802CA4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290190-3C6A-6D56-BE06-F93A8DDD97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80EDC-49C0-EDF2-9DA8-B470F54C1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45976-3FE5-4A9F-9859-FC8472DD523D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D9AED1-424A-76FF-B0D7-ABC6A3920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B07447-655F-8F5C-1664-ED823E3FC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B2ECB-C66E-4E39-A63B-0F7285DEC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681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764B5-5604-F64B-4A75-049EE5FAA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C6FA07-D40E-FADC-41CD-FBA604D993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ADB2C4-3CBF-1027-7DA4-FD43193A40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7C707-7FF9-5238-9C59-2FAD42D53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45976-3FE5-4A9F-9859-FC8472DD523D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45C4B8-797B-D3E6-61A0-75816CE35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52B52B-5FEE-12F0-CE1A-8895F3F24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B2ECB-C66E-4E39-A63B-0F7285DEC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233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7FBAC-CE74-06D1-B898-54583030F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54294F-5628-FBAA-8144-5EF962382D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9103A1-3E77-8FA4-4B5E-6A7D2FA9C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45976-3FE5-4A9F-9859-FC8472DD523D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74707F-4C34-6984-F34D-8DC0FB74D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79A62C-5B13-1DCC-F3C8-CFD22F5B6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B2ECB-C66E-4E39-A63B-0F7285DEC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790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D52B09-123B-87B1-95FB-D37C91E2B6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00334A-F3F7-C0EC-33C5-3FDBEA5DCA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D2A029-86DA-01A6-617D-80ECB6491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45976-3FE5-4A9F-9859-FC8472DD523D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C4745-3C6C-D00A-BFFE-753B1E69C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A0606-DDAF-CF32-940C-6E6994320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B2ECB-C66E-4E39-A63B-0F7285DEC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810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843DD-17D9-6CCC-FA8C-5B4E5FB6D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064109-CE39-FBDD-F670-EAB4B14CA4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B70BA3-E1FC-5959-276C-3E7566B159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945976-3FE5-4A9F-9859-FC8472DD523D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E4CF6-E6D6-E048-C883-54DB6FD71C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B1222-5A33-4909-2437-1C5118193C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7B2ECB-C66E-4E39-A63B-0F7285DEC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891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2E77A-1DC0-7EB5-DEB5-9A5346F88F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7C88BD-0684-1162-8414-FA239B3CF5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789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8" name="Group 267">
            <a:extLst>
              <a:ext uri="{FF2B5EF4-FFF2-40B4-BE49-F238E27FC236}">
                <a16:creationId xmlns:a16="http://schemas.microsoft.com/office/drawing/2014/main" id="{D2FAB802-0FDA-7ADB-AB72-DA58897E6A34}"/>
              </a:ext>
            </a:extLst>
          </p:cNvPr>
          <p:cNvGrpSpPr/>
          <p:nvPr/>
        </p:nvGrpSpPr>
        <p:grpSpPr>
          <a:xfrm>
            <a:off x="2776619" y="2124580"/>
            <a:ext cx="6638762" cy="2608840"/>
            <a:chOff x="2682520" y="1742180"/>
            <a:chExt cx="6638762" cy="260884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E014344-832B-F61E-D30B-AD4FFD569115}"/>
                </a:ext>
              </a:extLst>
            </p:cNvPr>
            <p:cNvSpPr/>
            <p:nvPr/>
          </p:nvSpPr>
          <p:spPr>
            <a:xfrm>
              <a:off x="4344261" y="3452387"/>
              <a:ext cx="231007" cy="1138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EFDC6863-AAEC-C8FD-442B-638AE464F70D}"/>
                </a:ext>
              </a:extLst>
            </p:cNvPr>
            <p:cNvGrpSpPr/>
            <p:nvPr/>
          </p:nvGrpSpPr>
          <p:grpSpPr>
            <a:xfrm>
              <a:off x="8519122" y="1748457"/>
              <a:ext cx="712378" cy="1280853"/>
              <a:chOff x="8495249" y="1746734"/>
              <a:chExt cx="712378" cy="1280853"/>
            </a:xfrm>
            <a:solidFill>
              <a:schemeClr val="tx1"/>
            </a:solidFill>
          </p:grpSpPr>
          <p:grpSp>
            <p:nvGrpSpPr>
              <p:cNvPr id="128" name="Group 127">
                <a:extLst>
                  <a:ext uri="{FF2B5EF4-FFF2-40B4-BE49-F238E27FC236}">
                    <a16:creationId xmlns:a16="http://schemas.microsoft.com/office/drawing/2014/main" id="{74CC00E1-DDB7-6429-EE39-2175F593DF9E}"/>
                  </a:ext>
                </a:extLst>
              </p:cNvPr>
              <p:cNvGrpSpPr/>
              <p:nvPr/>
            </p:nvGrpSpPr>
            <p:grpSpPr>
              <a:xfrm>
                <a:off x="8495249" y="1746734"/>
                <a:ext cx="712378" cy="1280853"/>
                <a:chOff x="8495249" y="1748894"/>
                <a:chExt cx="712378" cy="1644030"/>
              </a:xfrm>
              <a:grpFill/>
            </p:grpSpPr>
            <p:grpSp>
              <p:nvGrpSpPr>
                <p:cNvPr id="101" name="Group 100">
                  <a:extLst>
                    <a:ext uri="{FF2B5EF4-FFF2-40B4-BE49-F238E27FC236}">
                      <a16:creationId xmlns:a16="http://schemas.microsoft.com/office/drawing/2014/main" id="{CF52F80F-D353-F04F-5036-E9EA4267AECB}"/>
                    </a:ext>
                  </a:extLst>
                </p:cNvPr>
                <p:cNvGrpSpPr/>
                <p:nvPr/>
              </p:nvGrpSpPr>
              <p:grpSpPr>
                <a:xfrm>
                  <a:off x="8495249" y="1748894"/>
                  <a:ext cx="712378" cy="1644030"/>
                  <a:chOff x="8495249" y="1744132"/>
                  <a:chExt cx="712378" cy="1644030"/>
                </a:xfrm>
                <a:grpFill/>
              </p:grpSpPr>
              <p:sp>
                <p:nvSpPr>
                  <p:cNvPr id="100" name="Arrow: Curved Left 99">
                    <a:extLst>
                      <a:ext uri="{FF2B5EF4-FFF2-40B4-BE49-F238E27FC236}">
                        <a16:creationId xmlns:a16="http://schemas.microsoft.com/office/drawing/2014/main" id="{0CD4EB43-EDFE-399B-35E1-BA064EFB50CD}"/>
                      </a:ext>
                    </a:extLst>
                  </p:cNvPr>
                  <p:cNvSpPr/>
                  <p:nvPr/>
                </p:nvSpPr>
                <p:spPr>
                  <a:xfrm>
                    <a:off x="8735782" y="1744827"/>
                    <a:ext cx="471845" cy="1643335"/>
                  </a:xfrm>
                  <a:prstGeom prst="curvedLeftArrow">
                    <a:avLst>
                      <a:gd name="adj1" fmla="val 124297"/>
                      <a:gd name="adj2" fmla="val 102549"/>
                      <a:gd name="adj3" fmla="val 0"/>
                    </a:avLst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b="1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51" name="Straight Connector 50">
                    <a:extLst>
                      <a:ext uri="{FF2B5EF4-FFF2-40B4-BE49-F238E27FC236}">
                        <a16:creationId xmlns:a16="http://schemas.microsoft.com/office/drawing/2014/main" id="{E7E969EF-D21C-0415-6CAE-3EBEDBE79FF1}"/>
                      </a:ext>
                    </a:extLst>
                  </p:cNvPr>
                  <p:cNvCxnSpPr>
                    <a:cxnSpLocks/>
                    <a:endCxn id="42" idx="3"/>
                  </p:cNvCxnSpPr>
                  <p:nvPr/>
                </p:nvCxnSpPr>
                <p:spPr>
                  <a:xfrm>
                    <a:off x="8735772" y="1860811"/>
                    <a:ext cx="235933" cy="194725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66" name="Group 65">
                    <a:extLst>
                      <a:ext uri="{FF2B5EF4-FFF2-40B4-BE49-F238E27FC236}">
                        <a16:creationId xmlns:a16="http://schemas.microsoft.com/office/drawing/2014/main" id="{C4ACCBEF-B74D-E2D2-90FC-DF29464042DC}"/>
                      </a:ext>
                    </a:extLst>
                  </p:cNvPr>
                  <p:cNvGrpSpPr/>
                  <p:nvPr/>
                </p:nvGrpSpPr>
                <p:grpSpPr>
                  <a:xfrm>
                    <a:off x="8495249" y="1744132"/>
                    <a:ext cx="476464" cy="1626753"/>
                    <a:chOff x="10701146" y="451100"/>
                    <a:chExt cx="886415" cy="3020590"/>
                  </a:xfrm>
                  <a:grpFill/>
                </p:grpSpPr>
                <p:sp>
                  <p:nvSpPr>
                    <p:cNvPr id="41" name="Isosceles Triangle 40">
                      <a:extLst>
                        <a:ext uri="{FF2B5EF4-FFF2-40B4-BE49-F238E27FC236}">
                          <a16:creationId xmlns:a16="http://schemas.microsoft.com/office/drawing/2014/main" id="{371CCA41-06EA-D74C-4806-2413D6016A33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10356893" y="2709438"/>
                      <a:ext cx="1106505" cy="417999"/>
                    </a:xfrm>
                    <a:prstGeom prst="triangle">
                      <a:avLst>
                        <a:gd name="adj" fmla="val 48968"/>
                      </a:avLst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42" name="Arrow: Chevron 41">
                      <a:extLst>
                        <a:ext uri="{FF2B5EF4-FFF2-40B4-BE49-F238E27FC236}">
                          <a16:creationId xmlns:a16="http://schemas.microsoft.com/office/drawing/2014/main" id="{F50C2659-52CB-89BE-A051-CCA71A744E6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09738" y="451100"/>
                      <a:ext cx="877823" cy="1156445"/>
                    </a:xfrm>
                    <a:prstGeom prst="chevron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</p:grpSp>
            <p:sp>
              <p:nvSpPr>
                <p:cNvPr id="120" name="Freeform: Shape 119">
                  <a:extLst>
                    <a:ext uri="{FF2B5EF4-FFF2-40B4-BE49-F238E27FC236}">
                      <a16:creationId xmlns:a16="http://schemas.microsoft.com/office/drawing/2014/main" id="{4F985D8E-01FA-7983-4A41-D516DB4668C8}"/>
                    </a:ext>
                  </a:extLst>
                </p:cNvPr>
                <p:cNvSpPr/>
                <p:nvPr/>
              </p:nvSpPr>
              <p:spPr>
                <a:xfrm>
                  <a:off x="8735772" y="1764576"/>
                  <a:ext cx="261937" cy="558308"/>
                </a:xfrm>
                <a:custGeom>
                  <a:avLst/>
                  <a:gdLst>
                    <a:gd name="connsiteX0" fmla="*/ 4762 w 261937"/>
                    <a:gd name="connsiteY0" fmla="*/ 0 h 445294"/>
                    <a:gd name="connsiteX1" fmla="*/ 61912 w 261937"/>
                    <a:gd name="connsiteY1" fmla="*/ 4763 h 445294"/>
                    <a:gd name="connsiteX2" fmla="*/ 261937 w 261937"/>
                    <a:gd name="connsiteY2" fmla="*/ 211932 h 445294"/>
                    <a:gd name="connsiteX3" fmla="*/ 40481 w 261937"/>
                    <a:gd name="connsiteY3" fmla="*/ 445294 h 445294"/>
                    <a:gd name="connsiteX4" fmla="*/ 0 w 261937"/>
                    <a:gd name="connsiteY4" fmla="*/ 433388 h 445294"/>
                    <a:gd name="connsiteX5" fmla="*/ 221456 w 261937"/>
                    <a:gd name="connsiteY5" fmla="*/ 221457 h 445294"/>
                    <a:gd name="connsiteX6" fmla="*/ 4762 w 261937"/>
                    <a:gd name="connsiteY6" fmla="*/ 0 h 445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61937" h="445294">
                      <a:moveTo>
                        <a:pt x="4762" y="0"/>
                      </a:moveTo>
                      <a:lnTo>
                        <a:pt x="61912" y="4763"/>
                      </a:lnTo>
                      <a:lnTo>
                        <a:pt x="261937" y="211932"/>
                      </a:lnTo>
                      <a:lnTo>
                        <a:pt x="40481" y="445294"/>
                      </a:lnTo>
                      <a:lnTo>
                        <a:pt x="0" y="433388"/>
                      </a:lnTo>
                      <a:lnTo>
                        <a:pt x="221456" y="221457"/>
                      </a:lnTo>
                      <a:lnTo>
                        <a:pt x="4762" y="0"/>
                      </a:lnTo>
                      <a:close/>
                    </a:path>
                  </a:pathLst>
                </a:cu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45" name="Rectangle 144">
                <a:extLst>
                  <a:ext uri="{FF2B5EF4-FFF2-40B4-BE49-F238E27FC236}">
                    <a16:creationId xmlns:a16="http://schemas.microsoft.com/office/drawing/2014/main" id="{31899498-70EC-8478-10CB-DC49C931CC97}"/>
                  </a:ext>
                </a:extLst>
              </p:cNvPr>
              <p:cNvSpPr/>
              <p:nvPr/>
            </p:nvSpPr>
            <p:spPr>
              <a:xfrm>
                <a:off x="8731832" y="2574925"/>
                <a:ext cx="45719" cy="428624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3B2EF7D0-C880-A1DE-E824-9806DD37022E}"/>
                </a:ext>
              </a:extLst>
            </p:cNvPr>
            <p:cNvSpPr txBox="1"/>
            <p:nvPr/>
          </p:nvSpPr>
          <p:spPr>
            <a:xfrm>
              <a:off x="7240948" y="3251391"/>
              <a:ext cx="208033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CCS, </a:t>
              </a:r>
              <a:r>
                <a:rPr lang="en-US" sz="900" b="1" i="1" dirty="0">
                  <a:latin typeface="Arial" panose="020B0604020202020204" pitchFamily="34" charset="0"/>
                  <a:cs typeface="Arial" panose="020B0604020202020204" pitchFamily="34" charset="0"/>
                </a:rPr>
                <a:t>m/z</a:t>
              </a:r>
              <a:r>
                <a:rPr lang="en-US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, RT target match (Likely)</a:t>
              </a: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71B35290-3DC9-28DC-AA15-F5124C41C6D3}"/>
                </a:ext>
              </a:extLst>
            </p:cNvPr>
            <p:cNvSpPr txBox="1"/>
            <p:nvPr/>
          </p:nvSpPr>
          <p:spPr>
            <a:xfrm>
              <a:off x="7240948" y="3451626"/>
              <a:ext cx="178175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b="1" i="1" dirty="0">
                  <a:latin typeface="Arial" panose="020B0604020202020204" pitchFamily="34" charset="0"/>
                  <a:cs typeface="Arial" panose="020B0604020202020204" pitchFamily="34" charset="0"/>
                </a:rPr>
                <a:t>m/z </a:t>
              </a:r>
              <a:r>
                <a:rPr lang="en-US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target match (Tentative)</a:t>
              </a:r>
              <a:endParaRPr lang="en-US" sz="900" b="1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2E90CDDF-7782-A746-4E83-57463DFC1FB6}"/>
                </a:ext>
              </a:extLst>
            </p:cNvPr>
            <p:cNvSpPr txBox="1"/>
            <p:nvPr/>
          </p:nvSpPr>
          <p:spPr>
            <a:xfrm>
              <a:off x="7240948" y="3651862"/>
              <a:ext cx="19776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Fluorinated suspects (no match)</a:t>
              </a:r>
            </a:p>
          </p:txBody>
        </p:sp>
        <p:grpSp>
          <p:nvGrpSpPr>
            <p:cNvPr id="195" name="Group 194">
              <a:extLst>
                <a:ext uri="{FF2B5EF4-FFF2-40B4-BE49-F238E27FC236}">
                  <a16:creationId xmlns:a16="http://schemas.microsoft.com/office/drawing/2014/main" id="{B0D64608-C63A-4DCA-8A08-5BA044D9D04F}"/>
                </a:ext>
              </a:extLst>
            </p:cNvPr>
            <p:cNvGrpSpPr/>
            <p:nvPr/>
          </p:nvGrpSpPr>
          <p:grpSpPr>
            <a:xfrm>
              <a:off x="5882753" y="1742180"/>
              <a:ext cx="1424161" cy="477065"/>
              <a:chOff x="5882753" y="1742180"/>
              <a:chExt cx="1424161" cy="477065"/>
            </a:xfrm>
            <a:solidFill>
              <a:schemeClr val="tx1"/>
            </a:solidFill>
          </p:grpSpPr>
          <p:sp>
            <p:nvSpPr>
              <p:cNvPr id="93" name="Arrow: Chevron 92">
                <a:extLst>
                  <a:ext uri="{FF2B5EF4-FFF2-40B4-BE49-F238E27FC236}">
                    <a16:creationId xmlns:a16="http://schemas.microsoft.com/office/drawing/2014/main" id="{18DCF75E-1088-437B-3F70-CA79B6C36E7A}"/>
                  </a:ext>
                </a:extLst>
              </p:cNvPr>
              <p:cNvSpPr/>
              <p:nvPr/>
            </p:nvSpPr>
            <p:spPr>
              <a:xfrm>
                <a:off x="5882753" y="1742180"/>
                <a:ext cx="1424161" cy="477065"/>
              </a:xfrm>
              <a:prstGeom prst="chevron">
                <a:avLst/>
              </a:prstGeom>
              <a:grpFill/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 b="1" dirty="0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34D55B1E-9CF0-6F2C-B684-05B3B8DF9EF6}"/>
                  </a:ext>
                </a:extLst>
              </p:cNvPr>
              <p:cNvSpPr txBox="1"/>
              <p:nvPr/>
            </p:nvSpPr>
            <p:spPr>
              <a:xfrm>
                <a:off x="6121893" y="1856869"/>
                <a:ext cx="945880" cy="230832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Smearing</a:t>
                </a:r>
              </a:p>
            </p:txBody>
          </p:sp>
        </p:grpSp>
        <p:grpSp>
          <p:nvGrpSpPr>
            <p:cNvPr id="196" name="Group 195">
              <a:extLst>
                <a:ext uri="{FF2B5EF4-FFF2-40B4-BE49-F238E27FC236}">
                  <a16:creationId xmlns:a16="http://schemas.microsoft.com/office/drawing/2014/main" id="{606FCC54-251C-E613-12BE-DBAC801B0298}"/>
                </a:ext>
              </a:extLst>
            </p:cNvPr>
            <p:cNvGrpSpPr/>
            <p:nvPr/>
          </p:nvGrpSpPr>
          <p:grpSpPr>
            <a:xfrm>
              <a:off x="7209478" y="1742180"/>
              <a:ext cx="1424161" cy="477065"/>
              <a:chOff x="5882753" y="1742180"/>
              <a:chExt cx="1424161" cy="477065"/>
            </a:xfrm>
          </p:grpSpPr>
          <p:sp>
            <p:nvSpPr>
              <p:cNvPr id="197" name="Arrow: Chevron 196">
                <a:extLst>
                  <a:ext uri="{FF2B5EF4-FFF2-40B4-BE49-F238E27FC236}">
                    <a16:creationId xmlns:a16="http://schemas.microsoft.com/office/drawing/2014/main" id="{3833B7A6-7274-652D-32DC-D5D9D6C8053B}"/>
                  </a:ext>
                </a:extLst>
              </p:cNvPr>
              <p:cNvSpPr/>
              <p:nvPr/>
            </p:nvSpPr>
            <p:spPr>
              <a:xfrm>
                <a:off x="5882753" y="1742180"/>
                <a:ext cx="1424161" cy="477065"/>
              </a:xfrm>
              <a:prstGeom prst="chevron">
                <a:avLst/>
              </a:prstGeom>
              <a:pattFill prst="dkUpDiag">
                <a:fgClr>
                  <a:srgbClr val="042433"/>
                </a:fgClr>
                <a:bgClr>
                  <a:schemeClr val="bg1"/>
                </a:bgClr>
              </a:pattFill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 b="1" dirty="0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8" name="TextBox 197">
                <a:extLst>
                  <a:ext uri="{FF2B5EF4-FFF2-40B4-BE49-F238E27FC236}">
                    <a16:creationId xmlns:a16="http://schemas.microsoft.com/office/drawing/2014/main" id="{7E39CC01-EC3C-4A47-729B-53B2FE648BC7}"/>
                  </a:ext>
                </a:extLst>
              </p:cNvPr>
              <p:cNvSpPr txBox="1"/>
              <p:nvPr/>
            </p:nvSpPr>
            <p:spPr>
              <a:xfrm>
                <a:off x="6131075" y="1787619"/>
                <a:ext cx="939927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Similarity grouping</a:t>
                </a:r>
              </a:p>
            </p:txBody>
          </p:sp>
        </p:grpSp>
        <p:grpSp>
          <p:nvGrpSpPr>
            <p:cNvPr id="214" name="Group 213">
              <a:extLst>
                <a:ext uri="{FF2B5EF4-FFF2-40B4-BE49-F238E27FC236}">
                  <a16:creationId xmlns:a16="http://schemas.microsoft.com/office/drawing/2014/main" id="{156C5775-C450-415A-69EC-779DB65A5F39}"/>
                </a:ext>
              </a:extLst>
            </p:cNvPr>
            <p:cNvGrpSpPr/>
            <p:nvPr/>
          </p:nvGrpSpPr>
          <p:grpSpPr>
            <a:xfrm flipH="1">
              <a:off x="4571818" y="2551299"/>
              <a:ext cx="1424161" cy="477065"/>
              <a:chOff x="5882753" y="1742180"/>
              <a:chExt cx="1424161" cy="477065"/>
            </a:xfrm>
          </p:grpSpPr>
          <p:sp>
            <p:nvSpPr>
              <p:cNvPr id="215" name="Arrow: Chevron 214">
                <a:extLst>
                  <a:ext uri="{FF2B5EF4-FFF2-40B4-BE49-F238E27FC236}">
                    <a16:creationId xmlns:a16="http://schemas.microsoft.com/office/drawing/2014/main" id="{597F0EB6-41E1-7C5D-D30F-BAB8B4879C37}"/>
                  </a:ext>
                </a:extLst>
              </p:cNvPr>
              <p:cNvSpPr/>
              <p:nvPr/>
            </p:nvSpPr>
            <p:spPr>
              <a:xfrm>
                <a:off x="5882753" y="1742180"/>
                <a:ext cx="1424161" cy="477065"/>
              </a:xfrm>
              <a:prstGeom prst="chevron">
                <a:avLst/>
              </a:prstGeom>
              <a:pattFill prst="dkUpDiag">
                <a:fgClr>
                  <a:srgbClr val="042433"/>
                </a:fgClr>
                <a:bgClr>
                  <a:schemeClr val="bg1"/>
                </a:bgClr>
              </a:pattFill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 b="1" dirty="0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0EA2DA3F-AFC2-D3AA-3AEE-937093C88B26}"/>
                  </a:ext>
                </a:extLst>
              </p:cNvPr>
              <p:cNvSpPr txBox="1"/>
              <p:nvPr/>
            </p:nvSpPr>
            <p:spPr>
              <a:xfrm>
                <a:off x="6118200" y="1789790"/>
                <a:ext cx="943370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Detection frequency</a:t>
                </a:r>
              </a:p>
            </p:txBody>
          </p:sp>
        </p:grpSp>
        <p:grpSp>
          <p:nvGrpSpPr>
            <p:cNvPr id="229" name="Group 228">
              <a:extLst>
                <a:ext uri="{FF2B5EF4-FFF2-40B4-BE49-F238E27FC236}">
                  <a16:creationId xmlns:a16="http://schemas.microsoft.com/office/drawing/2014/main" id="{A448AA90-4FCE-17C5-BB55-6AA03AAA3381}"/>
                </a:ext>
              </a:extLst>
            </p:cNvPr>
            <p:cNvGrpSpPr/>
            <p:nvPr/>
          </p:nvGrpSpPr>
          <p:grpSpPr>
            <a:xfrm>
              <a:off x="4571817" y="1742180"/>
              <a:ext cx="1424161" cy="477065"/>
              <a:chOff x="5882753" y="1742180"/>
              <a:chExt cx="1424161" cy="477065"/>
            </a:xfrm>
          </p:grpSpPr>
          <p:sp>
            <p:nvSpPr>
              <p:cNvPr id="230" name="Arrow: Chevron 229">
                <a:extLst>
                  <a:ext uri="{FF2B5EF4-FFF2-40B4-BE49-F238E27FC236}">
                    <a16:creationId xmlns:a16="http://schemas.microsoft.com/office/drawing/2014/main" id="{F55E3FA0-AB8B-A922-FF6F-7564E3426ACD}"/>
                  </a:ext>
                </a:extLst>
              </p:cNvPr>
              <p:cNvSpPr/>
              <p:nvPr/>
            </p:nvSpPr>
            <p:spPr>
              <a:xfrm>
                <a:off x="5882753" y="1742180"/>
                <a:ext cx="1424161" cy="477065"/>
              </a:xfrm>
              <a:prstGeom prst="chevron">
                <a:avLst/>
              </a:prstGeom>
              <a:pattFill prst="dkUpDiag">
                <a:fgClr>
                  <a:srgbClr val="042433"/>
                </a:fgClr>
                <a:bgClr>
                  <a:schemeClr val="bg1"/>
                </a:bgClr>
              </a:pattFill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 b="1" dirty="0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1" name="TextBox 230">
                <a:extLst>
                  <a:ext uri="{FF2B5EF4-FFF2-40B4-BE49-F238E27FC236}">
                    <a16:creationId xmlns:a16="http://schemas.microsoft.com/office/drawing/2014/main" id="{FDFB0641-1F4C-2644-9BFD-87081D491CCF}"/>
                  </a:ext>
                </a:extLst>
              </p:cNvPr>
              <p:cNvSpPr txBox="1"/>
              <p:nvPr/>
            </p:nvSpPr>
            <p:spPr>
              <a:xfrm>
                <a:off x="6128098" y="1787619"/>
                <a:ext cx="946417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RT, Intensity, </a:t>
                </a:r>
                <a:r>
                  <a:rPr lang="en-US" sz="900" b="1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m/z</a:t>
                </a:r>
                <a:r>
                  <a:rPr lang="en-US" sz="9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cutoffs</a:t>
                </a:r>
              </a:p>
            </p:txBody>
          </p:sp>
        </p:grpSp>
        <p:grpSp>
          <p:nvGrpSpPr>
            <p:cNvPr id="232" name="Group 231">
              <a:extLst>
                <a:ext uri="{FF2B5EF4-FFF2-40B4-BE49-F238E27FC236}">
                  <a16:creationId xmlns:a16="http://schemas.microsoft.com/office/drawing/2014/main" id="{79FC2235-F233-5DF9-5021-1DE1AB881B09}"/>
                </a:ext>
              </a:extLst>
            </p:cNvPr>
            <p:cNvGrpSpPr/>
            <p:nvPr/>
          </p:nvGrpSpPr>
          <p:grpSpPr>
            <a:xfrm flipH="1">
              <a:off x="7208310" y="2550521"/>
              <a:ext cx="1424161" cy="477065"/>
              <a:chOff x="5882753" y="1742180"/>
              <a:chExt cx="1424161" cy="477065"/>
            </a:xfrm>
            <a:solidFill>
              <a:schemeClr val="tx1"/>
            </a:solidFill>
          </p:grpSpPr>
          <p:sp>
            <p:nvSpPr>
              <p:cNvPr id="233" name="Arrow: Chevron 232">
                <a:extLst>
                  <a:ext uri="{FF2B5EF4-FFF2-40B4-BE49-F238E27FC236}">
                    <a16:creationId xmlns:a16="http://schemas.microsoft.com/office/drawing/2014/main" id="{79D4C824-23CA-850C-6ED8-3722B31656CF}"/>
                  </a:ext>
                </a:extLst>
              </p:cNvPr>
              <p:cNvSpPr/>
              <p:nvPr/>
            </p:nvSpPr>
            <p:spPr>
              <a:xfrm>
                <a:off x="5882753" y="1742180"/>
                <a:ext cx="1424161" cy="477065"/>
              </a:xfrm>
              <a:prstGeom prst="chevron">
                <a:avLst/>
              </a:prstGeom>
              <a:grpFill/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 b="1" dirty="0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4" name="TextBox 233">
                <a:extLst>
                  <a:ext uri="{FF2B5EF4-FFF2-40B4-BE49-F238E27FC236}">
                    <a16:creationId xmlns:a16="http://schemas.microsoft.com/office/drawing/2014/main" id="{F204A75B-4B9A-154E-3129-2DD44A21EBE7}"/>
                  </a:ext>
                </a:extLst>
              </p:cNvPr>
              <p:cNvSpPr txBox="1"/>
              <p:nvPr/>
            </p:nvSpPr>
            <p:spPr>
              <a:xfrm>
                <a:off x="6114521" y="1799459"/>
                <a:ext cx="945880" cy="369332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Isotopic grouping</a:t>
                </a:r>
              </a:p>
            </p:txBody>
          </p:sp>
        </p:grpSp>
        <p:grpSp>
          <p:nvGrpSpPr>
            <p:cNvPr id="235" name="Group 234">
              <a:extLst>
                <a:ext uri="{FF2B5EF4-FFF2-40B4-BE49-F238E27FC236}">
                  <a16:creationId xmlns:a16="http://schemas.microsoft.com/office/drawing/2014/main" id="{96F29423-BA5D-651A-4DF2-262DA4D7876F}"/>
                </a:ext>
              </a:extLst>
            </p:cNvPr>
            <p:cNvGrpSpPr/>
            <p:nvPr/>
          </p:nvGrpSpPr>
          <p:grpSpPr>
            <a:xfrm flipH="1">
              <a:off x="5882753" y="2550521"/>
              <a:ext cx="1424161" cy="477065"/>
              <a:chOff x="5882753" y="1742180"/>
              <a:chExt cx="1424161" cy="477065"/>
            </a:xfrm>
            <a:solidFill>
              <a:schemeClr val="tx1"/>
            </a:solidFill>
          </p:grpSpPr>
          <p:sp>
            <p:nvSpPr>
              <p:cNvPr id="236" name="Arrow: Chevron 235">
                <a:extLst>
                  <a:ext uri="{FF2B5EF4-FFF2-40B4-BE49-F238E27FC236}">
                    <a16:creationId xmlns:a16="http://schemas.microsoft.com/office/drawing/2014/main" id="{EA765962-E109-45C2-4097-A73229D6D797}"/>
                  </a:ext>
                </a:extLst>
              </p:cNvPr>
              <p:cNvSpPr/>
              <p:nvPr/>
            </p:nvSpPr>
            <p:spPr>
              <a:xfrm>
                <a:off x="5882753" y="1742180"/>
                <a:ext cx="1424161" cy="477065"/>
              </a:xfrm>
              <a:prstGeom prst="chevron">
                <a:avLst/>
              </a:prstGeom>
              <a:grpFill/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 b="1" dirty="0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7" name="TextBox 236">
                <a:extLst>
                  <a:ext uri="{FF2B5EF4-FFF2-40B4-BE49-F238E27FC236}">
                    <a16:creationId xmlns:a16="http://schemas.microsoft.com/office/drawing/2014/main" id="{720682E8-4466-2514-AAA2-1C6FA91E2EFB}"/>
                  </a:ext>
                </a:extLst>
              </p:cNvPr>
              <p:cNvSpPr txBox="1"/>
              <p:nvPr/>
            </p:nvSpPr>
            <p:spPr>
              <a:xfrm>
                <a:off x="6114521" y="1799459"/>
                <a:ext cx="945880" cy="369332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CCS v </a:t>
                </a:r>
                <a:r>
                  <a:rPr lang="en-US" sz="9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m/z</a:t>
                </a:r>
                <a:r>
                  <a:rPr lang="en-US" sz="9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cutoff</a:t>
                </a:r>
              </a:p>
            </p:txBody>
          </p:sp>
        </p:grpSp>
        <p:grpSp>
          <p:nvGrpSpPr>
            <p:cNvPr id="238" name="Group 237">
              <a:extLst>
                <a:ext uri="{FF2B5EF4-FFF2-40B4-BE49-F238E27FC236}">
                  <a16:creationId xmlns:a16="http://schemas.microsoft.com/office/drawing/2014/main" id="{A3D04581-23F8-C86F-572C-91316809B108}"/>
                </a:ext>
              </a:extLst>
            </p:cNvPr>
            <p:cNvGrpSpPr/>
            <p:nvPr/>
          </p:nvGrpSpPr>
          <p:grpSpPr>
            <a:xfrm flipH="1">
              <a:off x="3245093" y="2551299"/>
              <a:ext cx="1424161" cy="477065"/>
              <a:chOff x="5882753" y="1742180"/>
              <a:chExt cx="1424161" cy="477065"/>
            </a:xfrm>
          </p:grpSpPr>
          <p:sp>
            <p:nvSpPr>
              <p:cNvPr id="239" name="Arrow: Chevron 238">
                <a:extLst>
                  <a:ext uri="{FF2B5EF4-FFF2-40B4-BE49-F238E27FC236}">
                    <a16:creationId xmlns:a16="http://schemas.microsoft.com/office/drawing/2014/main" id="{7D363663-3EA8-82BE-8825-D1B5F09EAF67}"/>
                  </a:ext>
                </a:extLst>
              </p:cNvPr>
              <p:cNvSpPr/>
              <p:nvPr/>
            </p:nvSpPr>
            <p:spPr>
              <a:xfrm>
                <a:off x="5882753" y="1742180"/>
                <a:ext cx="1424161" cy="477065"/>
              </a:xfrm>
              <a:prstGeom prst="chevron">
                <a:avLst/>
              </a:prstGeom>
              <a:pattFill prst="dkUpDiag">
                <a:fgClr>
                  <a:srgbClr val="042433"/>
                </a:fgClr>
                <a:bgClr>
                  <a:schemeClr val="bg1"/>
                </a:bgClr>
              </a:pattFill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 b="1" dirty="0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40" name="TextBox 239">
                <a:extLst>
                  <a:ext uri="{FF2B5EF4-FFF2-40B4-BE49-F238E27FC236}">
                    <a16:creationId xmlns:a16="http://schemas.microsoft.com/office/drawing/2014/main" id="{EEDD7DD4-3275-B738-3778-6A5FEF690A81}"/>
                  </a:ext>
                </a:extLst>
              </p:cNvPr>
              <p:cNvSpPr txBox="1"/>
              <p:nvPr/>
            </p:nvSpPr>
            <p:spPr>
              <a:xfrm>
                <a:off x="6118200" y="1789790"/>
                <a:ext cx="943370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Standards list removal</a:t>
                </a:r>
              </a:p>
            </p:txBody>
          </p:sp>
        </p:grpSp>
        <p:grpSp>
          <p:nvGrpSpPr>
            <p:cNvPr id="241" name="Group 240">
              <a:extLst>
                <a:ext uri="{FF2B5EF4-FFF2-40B4-BE49-F238E27FC236}">
                  <a16:creationId xmlns:a16="http://schemas.microsoft.com/office/drawing/2014/main" id="{49758849-38C7-98C6-3341-DAAF7999D7F7}"/>
                </a:ext>
              </a:extLst>
            </p:cNvPr>
            <p:cNvGrpSpPr/>
            <p:nvPr/>
          </p:nvGrpSpPr>
          <p:grpSpPr>
            <a:xfrm>
              <a:off x="5882753" y="3343562"/>
              <a:ext cx="1424161" cy="477065"/>
              <a:chOff x="5882753" y="1742180"/>
              <a:chExt cx="1424161" cy="477065"/>
            </a:xfrm>
            <a:solidFill>
              <a:schemeClr val="tx1"/>
            </a:solidFill>
          </p:grpSpPr>
          <p:sp>
            <p:nvSpPr>
              <p:cNvPr id="242" name="Arrow: Chevron 241">
                <a:extLst>
                  <a:ext uri="{FF2B5EF4-FFF2-40B4-BE49-F238E27FC236}">
                    <a16:creationId xmlns:a16="http://schemas.microsoft.com/office/drawing/2014/main" id="{94EFC0EA-2BA6-7662-6F55-FF263BC8407D}"/>
                  </a:ext>
                </a:extLst>
              </p:cNvPr>
              <p:cNvSpPr/>
              <p:nvPr/>
            </p:nvSpPr>
            <p:spPr>
              <a:xfrm>
                <a:off x="5882753" y="1742180"/>
                <a:ext cx="1424161" cy="477065"/>
              </a:xfrm>
              <a:prstGeom prst="chevron">
                <a:avLst/>
              </a:prstGeom>
              <a:grpFill/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 b="1" dirty="0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43" name="TextBox 242">
                <a:extLst>
                  <a:ext uri="{FF2B5EF4-FFF2-40B4-BE49-F238E27FC236}">
                    <a16:creationId xmlns:a16="http://schemas.microsoft.com/office/drawing/2014/main" id="{30D6F788-6B32-6695-7090-5A597A2CF61C}"/>
                  </a:ext>
                </a:extLst>
              </p:cNvPr>
              <p:cNvSpPr txBox="1"/>
              <p:nvPr/>
            </p:nvSpPr>
            <p:spPr>
              <a:xfrm>
                <a:off x="6121893" y="1796046"/>
                <a:ext cx="945880" cy="369332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Adduct removal</a:t>
                </a:r>
              </a:p>
            </p:txBody>
          </p:sp>
        </p:grpSp>
        <p:sp>
          <p:nvSpPr>
            <p:cNvPr id="244" name="Arrow: Chevron 243">
              <a:extLst>
                <a:ext uri="{FF2B5EF4-FFF2-40B4-BE49-F238E27FC236}">
                  <a16:creationId xmlns:a16="http://schemas.microsoft.com/office/drawing/2014/main" id="{3CCEFAD8-3F28-49AE-2796-A4FF5BBA5C11}"/>
                </a:ext>
              </a:extLst>
            </p:cNvPr>
            <p:cNvSpPr/>
            <p:nvPr/>
          </p:nvSpPr>
          <p:spPr>
            <a:xfrm>
              <a:off x="3245093" y="3343562"/>
              <a:ext cx="1424161" cy="477065"/>
            </a:xfrm>
            <a:prstGeom prst="chevron">
              <a:avLst/>
            </a:prstGeom>
            <a:solidFill>
              <a:schemeClr val="tx1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Post source decay</a:t>
              </a:r>
            </a:p>
          </p:txBody>
        </p:sp>
        <p:grpSp>
          <p:nvGrpSpPr>
            <p:cNvPr id="245" name="Group 244">
              <a:extLst>
                <a:ext uri="{FF2B5EF4-FFF2-40B4-BE49-F238E27FC236}">
                  <a16:creationId xmlns:a16="http://schemas.microsoft.com/office/drawing/2014/main" id="{6CA6ACF5-0EE7-B95A-3295-1C15EB1BDA61}"/>
                </a:ext>
              </a:extLst>
            </p:cNvPr>
            <p:cNvGrpSpPr/>
            <p:nvPr/>
          </p:nvGrpSpPr>
          <p:grpSpPr>
            <a:xfrm>
              <a:off x="4571817" y="3343562"/>
              <a:ext cx="1424161" cy="477065"/>
              <a:chOff x="5882753" y="1742180"/>
              <a:chExt cx="1424161" cy="477065"/>
            </a:xfrm>
          </p:grpSpPr>
          <p:sp>
            <p:nvSpPr>
              <p:cNvPr id="246" name="Arrow: Chevron 245">
                <a:extLst>
                  <a:ext uri="{FF2B5EF4-FFF2-40B4-BE49-F238E27FC236}">
                    <a16:creationId xmlns:a16="http://schemas.microsoft.com/office/drawing/2014/main" id="{4542B2EB-5B4D-E770-7372-BB175BB05BAD}"/>
                  </a:ext>
                </a:extLst>
              </p:cNvPr>
              <p:cNvSpPr/>
              <p:nvPr/>
            </p:nvSpPr>
            <p:spPr>
              <a:xfrm>
                <a:off x="5882753" y="1742180"/>
                <a:ext cx="1424161" cy="477065"/>
              </a:xfrm>
              <a:prstGeom prst="chevron">
                <a:avLst/>
              </a:prstGeom>
              <a:pattFill prst="dkUpDiag">
                <a:fgClr>
                  <a:srgbClr val="042433"/>
                </a:fgClr>
                <a:bgClr>
                  <a:schemeClr val="bg1"/>
                </a:bgClr>
              </a:pattFill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 b="1" dirty="0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47" name="TextBox 246">
                <a:extLst>
                  <a:ext uri="{FF2B5EF4-FFF2-40B4-BE49-F238E27FC236}">
                    <a16:creationId xmlns:a16="http://schemas.microsoft.com/office/drawing/2014/main" id="{F63B24E9-7CEA-C4CE-1BA0-A65D3C7129FD}"/>
                  </a:ext>
                </a:extLst>
              </p:cNvPr>
              <p:cNvSpPr txBox="1"/>
              <p:nvPr/>
            </p:nvSpPr>
            <p:spPr>
              <a:xfrm>
                <a:off x="6128098" y="1787619"/>
                <a:ext cx="971605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CCS, RT v </a:t>
                </a:r>
                <a:r>
                  <a:rPr lang="en-US" sz="900" b="1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m/z</a:t>
                </a:r>
                <a:r>
                  <a:rPr lang="en-US" sz="9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regression</a:t>
                </a:r>
              </a:p>
            </p:txBody>
          </p:sp>
        </p:grpSp>
        <p:grpSp>
          <p:nvGrpSpPr>
            <p:cNvPr id="248" name="Group 247">
              <a:extLst>
                <a:ext uri="{FF2B5EF4-FFF2-40B4-BE49-F238E27FC236}">
                  <a16:creationId xmlns:a16="http://schemas.microsoft.com/office/drawing/2014/main" id="{8730DD25-CA96-1034-6C45-8846BD1C01A1}"/>
                </a:ext>
              </a:extLst>
            </p:cNvPr>
            <p:cNvGrpSpPr/>
            <p:nvPr/>
          </p:nvGrpSpPr>
          <p:grpSpPr>
            <a:xfrm>
              <a:off x="3262565" y="1742180"/>
              <a:ext cx="1424161" cy="477065"/>
              <a:chOff x="5882753" y="1742180"/>
              <a:chExt cx="1424161" cy="477065"/>
            </a:xfrm>
          </p:grpSpPr>
          <p:sp>
            <p:nvSpPr>
              <p:cNvPr id="249" name="Arrow: Chevron 248">
                <a:extLst>
                  <a:ext uri="{FF2B5EF4-FFF2-40B4-BE49-F238E27FC236}">
                    <a16:creationId xmlns:a16="http://schemas.microsoft.com/office/drawing/2014/main" id="{23A42231-6EC0-BA61-BDA6-BA34EC3671AD}"/>
                  </a:ext>
                </a:extLst>
              </p:cNvPr>
              <p:cNvSpPr/>
              <p:nvPr/>
            </p:nvSpPr>
            <p:spPr>
              <a:xfrm>
                <a:off x="5882753" y="1742180"/>
                <a:ext cx="1424161" cy="477065"/>
              </a:xfrm>
              <a:prstGeom prst="chevron">
                <a:avLst/>
              </a:prstGeom>
              <a:pattFill prst="dkUpDiag">
                <a:fgClr>
                  <a:srgbClr val="042433"/>
                </a:fgClr>
                <a:bgClr>
                  <a:schemeClr val="bg1"/>
                </a:bgClr>
              </a:pattFill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 b="1" dirty="0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0" name="TextBox 249">
                <a:extLst>
                  <a:ext uri="{FF2B5EF4-FFF2-40B4-BE49-F238E27FC236}">
                    <a16:creationId xmlns:a16="http://schemas.microsoft.com/office/drawing/2014/main" id="{4886D440-E37B-1019-C3A9-4FE32656BC1A}"/>
                  </a:ext>
                </a:extLst>
              </p:cNvPr>
              <p:cNvSpPr txBox="1"/>
              <p:nvPr/>
            </p:nvSpPr>
            <p:spPr>
              <a:xfrm>
                <a:off x="6128098" y="1787619"/>
                <a:ext cx="946417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Blank subtraction</a:t>
                </a:r>
              </a:p>
            </p:txBody>
          </p:sp>
        </p:grpSp>
        <p:sp>
          <p:nvSpPr>
            <p:cNvPr id="251" name="Rectangle 250">
              <a:extLst>
                <a:ext uri="{FF2B5EF4-FFF2-40B4-BE49-F238E27FC236}">
                  <a16:creationId xmlns:a16="http://schemas.microsoft.com/office/drawing/2014/main" id="{E8D906CA-F2D6-9DF2-E6D1-E1332D756D35}"/>
                </a:ext>
              </a:extLst>
            </p:cNvPr>
            <p:cNvSpPr/>
            <p:nvPr/>
          </p:nvSpPr>
          <p:spPr>
            <a:xfrm>
              <a:off x="2949811" y="4053840"/>
              <a:ext cx="433469" cy="29718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2" name="Rectangle 251">
              <a:extLst>
                <a:ext uri="{FF2B5EF4-FFF2-40B4-BE49-F238E27FC236}">
                  <a16:creationId xmlns:a16="http://schemas.microsoft.com/office/drawing/2014/main" id="{FB9D48A2-BFA5-8159-E4E4-42FAECF3EA7E}"/>
                </a:ext>
              </a:extLst>
            </p:cNvPr>
            <p:cNvSpPr/>
            <p:nvPr/>
          </p:nvSpPr>
          <p:spPr>
            <a:xfrm>
              <a:off x="5584342" y="4053840"/>
              <a:ext cx="433469" cy="297180"/>
            </a:xfrm>
            <a:prstGeom prst="rect">
              <a:avLst/>
            </a:prstGeom>
            <a:pattFill prst="dkUpDiag">
              <a:fgClr>
                <a:schemeClr val="tx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3" name="TextBox 252">
              <a:extLst>
                <a:ext uri="{FF2B5EF4-FFF2-40B4-BE49-F238E27FC236}">
                  <a16:creationId xmlns:a16="http://schemas.microsoft.com/office/drawing/2014/main" id="{BE076011-C8D4-6A08-592C-144CBB413A3B}"/>
                </a:ext>
              </a:extLst>
            </p:cNvPr>
            <p:cNvSpPr txBox="1"/>
            <p:nvPr/>
          </p:nvSpPr>
          <p:spPr>
            <a:xfrm>
              <a:off x="3374721" y="4087014"/>
              <a:ext cx="259779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Algorithms without user tunability</a:t>
              </a:r>
            </a:p>
          </p:txBody>
        </p: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79441808-DFA1-1FDF-7EF1-09905F3F549E}"/>
                </a:ext>
              </a:extLst>
            </p:cNvPr>
            <p:cNvSpPr txBox="1"/>
            <p:nvPr/>
          </p:nvSpPr>
          <p:spPr>
            <a:xfrm>
              <a:off x="5995978" y="4087014"/>
              <a:ext cx="259779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Tunable algorithms based on user input</a:t>
              </a:r>
            </a:p>
          </p:txBody>
        </p:sp>
        <p:grpSp>
          <p:nvGrpSpPr>
            <p:cNvPr id="258" name="Group 257">
              <a:extLst>
                <a:ext uri="{FF2B5EF4-FFF2-40B4-BE49-F238E27FC236}">
                  <a16:creationId xmlns:a16="http://schemas.microsoft.com/office/drawing/2014/main" id="{20DA9909-A2A0-918F-1F2A-346A6F41A932}"/>
                </a:ext>
              </a:extLst>
            </p:cNvPr>
            <p:cNvGrpSpPr/>
            <p:nvPr/>
          </p:nvGrpSpPr>
          <p:grpSpPr>
            <a:xfrm flipH="1">
              <a:off x="2682520" y="2548784"/>
              <a:ext cx="712378" cy="1280853"/>
              <a:chOff x="8495249" y="1746734"/>
              <a:chExt cx="712378" cy="1280853"/>
            </a:xfrm>
            <a:solidFill>
              <a:schemeClr val="tx1"/>
            </a:solidFill>
          </p:grpSpPr>
          <p:grpSp>
            <p:nvGrpSpPr>
              <p:cNvPr id="259" name="Group 258">
                <a:extLst>
                  <a:ext uri="{FF2B5EF4-FFF2-40B4-BE49-F238E27FC236}">
                    <a16:creationId xmlns:a16="http://schemas.microsoft.com/office/drawing/2014/main" id="{E1266EA3-9C89-281F-CB96-65AC0B0BCDAB}"/>
                  </a:ext>
                </a:extLst>
              </p:cNvPr>
              <p:cNvGrpSpPr/>
              <p:nvPr/>
            </p:nvGrpSpPr>
            <p:grpSpPr>
              <a:xfrm>
                <a:off x="8495249" y="1746734"/>
                <a:ext cx="712378" cy="1280853"/>
                <a:chOff x="8495249" y="1748894"/>
                <a:chExt cx="712378" cy="1644030"/>
              </a:xfrm>
              <a:grpFill/>
            </p:grpSpPr>
            <p:grpSp>
              <p:nvGrpSpPr>
                <p:cNvPr id="261" name="Group 260">
                  <a:extLst>
                    <a:ext uri="{FF2B5EF4-FFF2-40B4-BE49-F238E27FC236}">
                      <a16:creationId xmlns:a16="http://schemas.microsoft.com/office/drawing/2014/main" id="{B941E311-39DE-17BE-414D-1AFF2F81521B}"/>
                    </a:ext>
                  </a:extLst>
                </p:cNvPr>
                <p:cNvGrpSpPr/>
                <p:nvPr/>
              </p:nvGrpSpPr>
              <p:grpSpPr>
                <a:xfrm>
                  <a:off x="8495249" y="1748894"/>
                  <a:ext cx="712378" cy="1644030"/>
                  <a:chOff x="8495249" y="1744132"/>
                  <a:chExt cx="712378" cy="1644030"/>
                </a:xfrm>
                <a:grpFill/>
              </p:grpSpPr>
              <p:sp>
                <p:nvSpPr>
                  <p:cNvPr id="263" name="Arrow: Curved Left 262">
                    <a:extLst>
                      <a:ext uri="{FF2B5EF4-FFF2-40B4-BE49-F238E27FC236}">
                        <a16:creationId xmlns:a16="http://schemas.microsoft.com/office/drawing/2014/main" id="{B01251EB-9FF0-39FF-2A33-6B763B148408}"/>
                      </a:ext>
                    </a:extLst>
                  </p:cNvPr>
                  <p:cNvSpPr/>
                  <p:nvPr/>
                </p:nvSpPr>
                <p:spPr>
                  <a:xfrm>
                    <a:off x="8735782" y="1744827"/>
                    <a:ext cx="471845" cy="1643335"/>
                  </a:xfrm>
                  <a:prstGeom prst="curvedLeftArrow">
                    <a:avLst>
                      <a:gd name="adj1" fmla="val 124297"/>
                      <a:gd name="adj2" fmla="val 102549"/>
                      <a:gd name="adj3" fmla="val 0"/>
                    </a:avLst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b="1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264" name="Straight Connector 263">
                    <a:extLst>
                      <a:ext uri="{FF2B5EF4-FFF2-40B4-BE49-F238E27FC236}">
                        <a16:creationId xmlns:a16="http://schemas.microsoft.com/office/drawing/2014/main" id="{0598F9BF-FB3C-8855-9516-A9142B7CE058}"/>
                      </a:ext>
                    </a:extLst>
                  </p:cNvPr>
                  <p:cNvCxnSpPr>
                    <a:cxnSpLocks/>
                    <a:endCxn id="267" idx="3"/>
                  </p:cNvCxnSpPr>
                  <p:nvPr/>
                </p:nvCxnSpPr>
                <p:spPr>
                  <a:xfrm>
                    <a:off x="8735772" y="1860811"/>
                    <a:ext cx="235933" cy="194725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65" name="Group 264">
                    <a:extLst>
                      <a:ext uri="{FF2B5EF4-FFF2-40B4-BE49-F238E27FC236}">
                        <a16:creationId xmlns:a16="http://schemas.microsoft.com/office/drawing/2014/main" id="{FED8E359-B7A2-EC32-5E9C-A0D0F107396A}"/>
                      </a:ext>
                    </a:extLst>
                  </p:cNvPr>
                  <p:cNvGrpSpPr/>
                  <p:nvPr/>
                </p:nvGrpSpPr>
                <p:grpSpPr>
                  <a:xfrm>
                    <a:off x="8495249" y="1744132"/>
                    <a:ext cx="476464" cy="1626753"/>
                    <a:chOff x="10701146" y="451100"/>
                    <a:chExt cx="886415" cy="3020590"/>
                  </a:xfrm>
                  <a:grpFill/>
                </p:grpSpPr>
                <p:sp>
                  <p:nvSpPr>
                    <p:cNvPr id="266" name="Isosceles Triangle 265">
                      <a:extLst>
                        <a:ext uri="{FF2B5EF4-FFF2-40B4-BE49-F238E27FC236}">
                          <a16:creationId xmlns:a16="http://schemas.microsoft.com/office/drawing/2014/main" id="{AB0457BA-33B3-996E-AA25-02E19D5FEEF4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10356893" y="2709438"/>
                      <a:ext cx="1106505" cy="417999"/>
                    </a:xfrm>
                    <a:prstGeom prst="triangle">
                      <a:avLst>
                        <a:gd name="adj" fmla="val 48968"/>
                      </a:avLst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67" name="Arrow: Chevron 266">
                      <a:extLst>
                        <a:ext uri="{FF2B5EF4-FFF2-40B4-BE49-F238E27FC236}">
                          <a16:creationId xmlns:a16="http://schemas.microsoft.com/office/drawing/2014/main" id="{C8BF30B3-5944-B72D-2B0D-753B8FDEEFC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09738" y="451100"/>
                      <a:ext cx="877823" cy="1156445"/>
                    </a:xfrm>
                    <a:prstGeom prst="chevron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</p:grpSp>
            <p:sp>
              <p:nvSpPr>
                <p:cNvPr id="262" name="Freeform: Shape 261">
                  <a:extLst>
                    <a:ext uri="{FF2B5EF4-FFF2-40B4-BE49-F238E27FC236}">
                      <a16:creationId xmlns:a16="http://schemas.microsoft.com/office/drawing/2014/main" id="{D1CE3E30-8E79-9483-6BA8-65EA381B13C4}"/>
                    </a:ext>
                  </a:extLst>
                </p:cNvPr>
                <p:cNvSpPr/>
                <p:nvPr/>
              </p:nvSpPr>
              <p:spPr>
                <a:xfrm>
                  <a:off x="8735772" y="1764576"/>
                  <a:ext cx="261937" cy="558308"/>
                </a:xfrm>
                <a:custGeom>
                  <a:avLst/>
                  <a:gdLst>
                    <a:gd name="connsiteX0" fmla="*/ 4762 w 261937"/>
                    <a:gd name="connsiteY0" fmla="*/ 0 h 445294"/>
                    <a:gd name="connsiteX1" fmla="*/ 61912 w 261937"/>
                    <a:gd name="connsiteY1" fmla="*/ 4763 h 445294"/>
                    <a:gd name="connsiteX2" fmla="*/ 261937 w 261937"/>
                    <a:gd name="connsiteY2" fmla="*/ 211932 h 445294"/>
                    <a:gd name="connsiteX3" fmla="*/ 40481 w 261937"/>
                    <a:gd name="connsiteY3" fmla="*/ 445294 h 445294"/>
                    <a:gd name="connsiteX4" fmla="*/ 0 w 261937"/>
                    <a:gd name="connsiteY4" fmla="*/ 433388 h 445294"/>
                    <a:gd name="connsiteX5" fmla="*/ 221456 w 261937"/>
                    <a:gd name="connsiteY5" fmla="*/ 221457 h 445294"/>
                    <a:gd name="connsiteX6" fmla="*/ 4762 w 261937"/>
                    <a:gd name="connsiteY6" fmla="*/ 0 h 445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61937" h="445294">
                      <a:moveTo>
                        <a:pt x="4762" y="0"/>
                      </a:moveTo>
                      <a:lnTo>
                        <a:pt x="61912" y="4763"/>
                      </a:lnTo>
                      <a:lnTo>
                        <a:pt x="261937" y="211932"/>
                      </a:lnTo>
                      <a:lnTo>
                        <a:pt x="40481" y="445294"/>
                      </a:lnTo>
                      <a:lnTo>
                        <a:pt x="0" y="433388"/>
                      </a:lnTo>
                      <a:lnTo>
                        <a:pt x="221456" y="221457"/>
                      </a:lnTo>
                      <a:lnTo>
                        <a:pt x="4762" y="0"/>
                      </a:lnTo>
                      <a:close/>
                    </a:path>
                  </a:pathLst>
                </a:cu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260" name="Rectangle 259">
                <a:extLst>
                  <a:ext uri="{FF2B5EF4-FFF2-40B4-BE49-F238E27FC236}">
                    <a16:creationId xmlns:a16="http://schemas.microsoft.com/office/drawing/2014/main" id="{72569E00-AFCF-2DEF-5B3F-136CEDB4E420}"/>
                  </a:ext>
                </a:extLst>
              </p:cNvPr>
              <p:cNvSpPr/>
              <p:nvPr/>
            </p:nvSpPr>
            <p:spPr>
              <a:xfrm>
                <a:off x="8731832" y="2574925"/>
                <a:ext cx="45719" cy="428624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25254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graph of a graph showing a number of different sizes&#10;&#10;AI-generated content may be incorrect.">
            <a:extLst>
              <a:ext uri="{FF2B5EF4-FFF2-40B4-BE49-F238E27FC236}">
                <a16:creationId xmlns:a16="http://schemas.microsoft.com/office/drawing/2014/main" id="{AFC49084-0ABB-74FA-9569-6233A0B03A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4294" y="1696651"/>
            <a:ext cx="6400813" cy="395021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9A2F1B-5831-2F51-7590-0A6B8A926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56BE26-A1D0-866B-769F-640B2A8B8E8F}"/>
              </a:ext>
            </a:extLst>
          </p:cNvPr>
          <p:cNvSpPr txBox="1"/>
          <p:nvPr/>
        </p:nvSpPr>
        <p:spPr>
          <a:xfrm>
            <a:off x="7692845" y="3313584"/>
            <a:ext cx="924127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900" b="1" dirty="0"/>
              <a:t>1680 features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0CBEE1-92EB-25CC-1740-A66B84850DE2}"/>
              </a:ext>
            </a:extLst>
          </p:cNvPr>
          <p:cNvSpPr txBox="1"/>
          <p:nvPr/>
        </p:nvSpPr>
        <p:spPr>
          <a:xfrm>
            <a:off x="7692845" y="2428028"/>
            <a:ext cx="88640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3289 features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783C494-891C-E00B-1438-3FBDAAD6B216}"/>
              </a:ext>
            </a:extLst>
          </p:cNvPr>
          <p:cNvSpPr txBox="1"/>
          <p:nvPr/>
        </p:nvSpPr>
        <p:spPr>
          <a:xfrm>
            <a:off x="7547572" y="4660804"/>
            <a:ext cx="141825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latin typeface="Arial" panose="020B0604020202020204" pitchFamily="34" charset="0"/>
                <a:cs typeface="Arial" panose="020B0604020202020204" pitchFamily="34" charset="0"/>
              </a:rPr>
              <a:t>Point below cutoff</a:t>
            </a:r>
          </a:p>
          <a:p>
            <a:r>
              <a:rPr lang="en-US" sz="900" b="1" dirty="0">
                <a:latin typeface="Arial" panose="020B0604020202020204" pitchFamily="34" charset="0"/>
                <a:cs typeface="Arial" panose="020B0604020202020204" pitchFamily="34" charset="0"/>
              </a:rPr>
              <a:t>Point above cutoff</a:t>
            </a:r>
          </a:p>
          <a:p>
            <a:r>
              <a:rPr lang="en-US" sz="900" b="1" dirty="0">
                <a:latin typeface="Arial" panose="020B0604020202020204" pitchFamily="34" charset="0"/>
                <a:cs typeface="Arial" panose="020B0604020202020204" pitchFamily="34" charset="0"/>
              </a:rPr>
              <a:t>PFAS suspect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DE6D488-E57F-98DB-EB9F-1A6AC35BC4E2}"/>
              </a:ext>
            </a:extLst>
          </p:cNvPr>
          <p:cNvSpPr/>
          <p:nvPr/>
        </p:nvSpPr>
        <p:spPr>
          <a:xfrm>
            <a:off x="7481888" y="4737487"/>
            <a:ext cx="95250" cy="9144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13B9BEA-63E8-D97D-66CA-9426FEDF1E88}"/>
              </a:ext>
            </a:extLst>
          </p:cNvPr>
          <p:cNvSpPr/>
          <p:nvPr/>
        </p:nvSpPr>
        <p:spPr>
          <a:xfrm>
            <a:off x="7481888" y="4868999"/>
            <a:ext cx="9525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Multiplication Sign 24">
            <a:extLst>
              <a:ext uri="{FF2B5EF4-FFF2-40B4-BE49-F238E27FC236}">
                <a16:creationId xmlns:a16="http://schemas.microsoft.com/office/drawing/2014/main" id="{46D82F40-4B13-0EFF-526B-04567C36BDD9}"/>
              </a:ext>
            </a:extLst>
          </p:cNvPr>
          <p:cNvSpPr/>
          <p:nvPr/>
        </p:nvSpPr>
        <p:spPr>
          <a:xfrm>
            <a:off x="7447359" y="4960439"/>
            <a:ext cx="164307" cy="166801"/>
          </a:xfrm>
          <a:prstGeom prst="mathMultiply">
            <a:avLst>
              <a:gd name="adj1" fmla="val 15708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83F25A-050E-ADBE-152C-9F4B46CDAC1E}"/>
              </a:ext>
            </a:extLst>
          </p:cNvPr>
          <p:cNvSpPr txBox="1"/>
          <p:nvPr/>
        </p:nvSpPr>
        <p:spPr>
          <a:xfrm>
            <a:off x="4423608" y="2079812"/>
            <a:ext cx="31021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u="sng" dirty="0">
                <a:latin typeface="Arial" panose="020B0604020202020204" pitchFamily="34" charset="0"/>
                <a:cs typeface="Arial" panose="020B0604020202020204" pitchFamily="34" charset="0"/>
              </a:rPr>
              <a:t>CCS v </a:t>
            </a:r>
            <a:r>
              <a:rPr lang="en-US" sz="1200" b="1" i="1" u="sng" dirty="0">
                <a:latin typeface="Arial" panose="020B0604020202020204" pitchFamily="34" charset="0"/>
                <a:cs typeface="Arial" panose="020B0604020202020204" pitchFamily="34" charset="0"/>
              </a:rPr>
              <a:t>m/z</a:t>
            </a:r>
            <a:r>
              <a:rPr lang="en-US" sz="1200" b="1" u="sng" dirty="0">
                <a:latin typeface="Arial" panose="020B0604020202020204" pitchFamily="34" charset="0"/>
                <a:cs typeface="Arial" panose="020B0604020202020204" pitchFamily="34" charset="0"/>
              </a:rPr>
              <a:t> cutoff</a:t>
            </a:r>
          </a:p>
        </p:txBody>
      </p:sp>
    </p:spTree>
    <p:extLst>
      <p:ext uri="{BB962C8B-B14F-4D97-AF65-F5344CB8AC3E}">
        <p14:creationId xmlns:p14="http://schemas.microsoft.com/office/powerpoint/2010/main" val="40276987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630E2-EF1B-EA04-DB6F-9A1DFC277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93F89AA-405C-87B6-6F36-02F63A783F15}"/>
              </a:ext>
            </a:extLst>
          </p:cNvPr>
          <p:cNvCxnSpPr/>
          <p:nvPr/>
        </p:nvCxnSpPr>
        <p:spPr>
          <a:xfrm>
            <a:off x="5097888" y="1829295"/>
            <a:ext cx="0" cy="214008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" name="Picture 9" descr="A graph with a curve&#10;&#10;AI-generated content may be incorrect.">
            <a:extLst>
              <a:ext uri="{FF2B5EF4-FFF2-40B4-BE49-F238E27FC236}">
                <a16:creationId xmlns:a16="http://schemas.microsoft.com/office/drawing/2014/main" id="{7CEB56D0-AD77-8D3B-B6BE-F32A658CE2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31" t="13484" r="11870" b="7215"/>
          <a:stretch/>
        </p:blipFill>
        <p:spPr>
          <a:xfrm>
            <a:off x="3191069" y="1091682"/>
            <a:ext cx="6391470" cy="5075854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E585AA8-3FCD-A3C0-E142-A552BD306E77}"/>
              </a:ext>
            </a:extLst>
          </p:cNvPr>
          <p:cNvCxnSpPr>
            <a:cxnSpLocks/>
          </p:cNvCxnSpPr>
          <p:nvPr/>
        </p:nvCxnSpPr>
        <p:spPr>
          <a:xfrm flipV="1">
            <a:off x="5256120" y="1831133"/>
            <a:ext cx="292608" cy="1632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A9B04BE-3051-59AF-5A29-10CEF5E3E263}"/>
              </a:ext>
            </a:extLst>
          </p:cNvPr>
          <p:cNvCxnSpPr>
            <a:cxnSpLocks/>
          </p:cNvCxnSpPr>
          <p:nvPr/>
        </p:nvCxnSpPr>
        <p:spPr>
          <a:xfrm>
            <a:off x="5402424" y="1912776"/>
            <a:ext cx="0" cy="191836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1826AD7-98D4-CE2F-A179-9A0440E407CB}"/>
              </a:ext>
            </a:extLst>
          </p:cNvPr>
          <p:cNvCxnSpPr>
            <a:cxnSpLocks/>
          </p:cNvCxnSpPr>
          <p:nvPr/>
        </p:nvCxnSpPr>
        <p:spPr>
          <a:xfrm flipV="1">
            <a:off x="5256120" y="3749497"/>
            <a:ext cx="292608" cy="1632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CEC00DC-D94B-9676-8D8A-D1FE5106CE0C}"/>
              </a:ext>
            </a:extLst>
          </p:cNvPr>
          <p:cNvCxnSpPr>
            <a:cxnSpLocks/>
          </p:cNvCxnSpPr>
          <p:nvPr/>
        </p:nvCxnSpPr>
        <p:spPr>
          <a:xfrm flipH="1" flipV="1">
            <a:off x="6643110" y="4621237"/>
            <a:ext cx="451263" cy="731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C475CBB-CE22-7EFD-2E4B-8463BC45D1B7}"/>
              </a:ext>
            </a:extLst>
          </p:cNvPr>
          <p:cNvCxnSpPr>
            <a:cxnSpLocks/>
          </p:cNvCxnSpPr>
          <p:nvPr/>
        </p:nvCxnSpPr>
        <p:spPr>
          <a:xfrm flipV="1">
            <a:off x="5959466" y="4665733"/>
            <a:ext cx="909276" cy="62544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5A444B0-5771-AC69-FE61-51603614D6AF}"/>
              </a:ext>
            </a:extLst>
          </p:cNvPr>
          <p:cNvCxnSpPr>
            <a:cxnSpLocks/>
          </p:cNvCxnSpPr>
          <p:nvPr/>
        </p:nvCxnSpPr>
        <p:spPr>
          <a:xfrm flipH="1" flipV="1">
            <a:off x="5733835" y="5254598"/>
            <a:ext cx="451263" cy="731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41169B4-0704-655E-C489-E5D2AC10E9F4}"/>
              </a:ext>
            </a:extLst>
          </p:cNvPr>
          <p:cNvCxnSpPr>
            <a:cxnSpLocks/>
          </p:cNvCxnSpPr>
          <p:nvPr/>
        </p:nvCxnSpPr>
        <p:spPr>
          <a:xfrm>
            <a:off x="4123808" y="4741460"/>
            <a:ext cx="1200302" cy="27591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781EF69-5475-3D79-F3BE-2F880152AEE7}"/>
              </a:ext>
            </a:extLst>
          </p:cNvPr>
          <p:cNvCxnSpPr>
            <a:cxnSpLocks/>
          </p:cNvCxnSpPr>
          <p:nvPr/>
        </p:nvCxnSpPr>
        <p:spPr>
          <a:xfrm flipH="1">
            <a:off x="3977402" y="4639318"/>
            <a:ext cx="298831" cy="1884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9AD6533-7F0F-F95C-1572-74B91B9A2796}"/>
              </a:ext>
            </a:extLst>
          </p:cNvPr>
          <p:cNvCxnSpPr>
            <a:cxnSpLocks/>
          </p:cNvCxnSpPr>
          <p:nvPr/>
        </p:nvCxnSpPr>
        <p:spPr>
          <a:xfrm flipH="1">
            <a:off x="5173336" y="4888748"/>
            <a:ext cx="298831" cy="2490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3886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showing a number of dots&#10;&#10;AI-generated content may be incorrect.">
            <a:extLst>
              <a:ext uri="{FF2B5EF4-FFF2-40B4-BE49-F238E27FC236}">
                <a16:creationId xmlns:a16="http://schemas.microsoft.com/office/drawing/2014/main" id="{0FF1AC1F-8E09-A4A1-1B06-86C786A2AA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138" y="1388243"/>
            <a:ext cx="3017526" cy="39502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057A34-A99D-48F4-A087-77D40043C767}"/>
              </a:ext>
            </a:extLst>
          </p:cNvPr>
          <p:cNvSpPr txBox="1"/>
          <p:nvPr/>
        </p:nvSpPr>
        <p:spPr>
          <a:xfrm>
            <a:off x="2914520" y="3767827"/>
            <a:ext cx="924127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900" b="1" dirty="0"/>
              <a:t>539 features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A250BE-0B65-BE91-4449-C546ED0FCCDD}"/>
              </a:ext>
            </a:extLst>
          </p:cNvPr>
          <p:cNvSpPr txBox="1"/>
          <p:nvPr/>
        </p:nvSpPr>
        <p:spPr>
          <a:xfrm>
            <a:off x="3012993" y="2428028"/>
            <a:ext cx="88640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224 features</a:t>
            </a:r>
          </a:p>
        </p:txBody>
      </p:sp>
    </p:spTree>
    <p:extLst>
      <p:ext uri="{BB962C8B-B14F-4D97-AF65-F5344CB8AC3E}">
        <p14:creationId xmlns:p14="http://schemas.microsoft.com/office/powerpoint/2010/main" val="6742221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1811</TotalTime>
  <Words>97</Words>
  <Application>Microsoft Office PowerPoint</Application>
  <PresentationFormat>Widescreen</PresentationFormat>
  <Paragraphs>24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Kudzin, Gregory Phillip</dc:creator>
  <cp:lastModifiedBy>Gregory Kudzin</cp:lastModifiedBy>
  <cp:revision>5</cp:revision>
  <dcterms:created xsi:type="dcterms:W3CDTF">2025-04-29T13:34:52Z</dcterms:created>
  <dcterms:modified xsi:type="dcterms:W3CDTF">2025-05-01T19:28:37Z</dcterms:modified>
</cp:coreProperties>
</file>