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CD53B-11A5-786C-A6E8-EE5AE063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EC9BB9-3923-F6B5-C728-D83BCCE2C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76FAD-3C3D-53E7-C64D-CA883417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FBE37-E7BE-EAF0-7CB8-C77F70B9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71353-57F5-C223-24BE-CD0445C5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3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C7D9F-4612-939A-2595-A0EBF0B41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82EE3-1E8C-E7B0-B232-D947365B1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2BEA9-54C6-AC0E-97A9-A0CE7FEEC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585E0-9ACC-0A2A-9CA1-9C596916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8A509-6057-B5D8-C017-59856C51F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5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8CD72-55CE-6A44-9215-C3E75364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8CC3A-7E8D-10EE-EA42-5F7142180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60245-439D-2B2C-59F4-F7C39D58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D4914-1031-028A-31B6-309DE5CE9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F4491-9B99-3DB5-3059-A50FD4E9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5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B8E3-1627-3E19-1449-77B6D7946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5D46F-2BC3-B3B0-2D2E-709FDF4B9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4E52D-F3ED-6606-6AF6-5F0607038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5DA95-9658-D17E-AE74-D67830A39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C2EAE-C6C3-0754-BB6F-52DBF794B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1BE50-D136-41DD-4A3C-E66C8443F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39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9FC3-DED2-F578-0238-FDDB1025C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901C-ACE1-B6E9-3796-B0CA8807E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5133E-282A-CFCF-FD4C-865EC75E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DBEF9C-BC70-9479-1A7C-CDB75B08F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B2C4DD-0E91-AC14-BEF9-053702ACB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AF6502-9F97-31A6-00A5-BBD7066E1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E4299-B828-B050-C9A0-A54761D5C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11673-FDC3-0023-839D-0896B3A9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39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3FA0E-BC37-D9BE-9BE6-F5415D21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490C62-9772-1E3C-EC04-B0CC303D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1EE50-C0B9-5BFD-BE21-37D358C8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409AD-BB10-CA19-4AD9-CCFAB0E4C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3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64AA9D-A20E-CC4F-F10F-BB3F5296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688F9-7B4D-6668-717C-03C74D123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C4922-AFA0-56E6-3F3A-2A89F4B2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5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3250-4503-5182-1F32-5D0D9C504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66AB-F9FE-41B8-DA45-FABCA45BE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F51FD-ADEB-4FE1-BC5F-D293461DF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72DC6-BD51-A767-96E3-D8043A5B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F9CE8-05E7-005D-C751-F9A4BF569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00F20-EA31-C325-77D9-BE58F2DA3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82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16F3-281D-C815-292A-C637C8BD7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F46EBF-BA1F-AD82-B140-8AAE80ADE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2705A-2C05-EDEE-F1F8-1E8028B5A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AA957-3238-BCAD-0865-E003128F4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BFCDB-3090-7BA3-0FD1-BB4469EB8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6B2FA-36FB-9295-BC4F-25F9B7FD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8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BD10-B6BA-1C72-326B-941FBBBAC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00BC2-B116-415B-3810-4CE4CB33F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CBD83-05B3-8397-6AC4-7F32CDB77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84B91-BB37-EA7F-1A82-8062FF718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C08D6-0DDE-D057-4706-44EE0313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94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475748-352D-1E0F-A888-49090A347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B01FB-88CB-E55C-5595-EE8E64FF5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A0797-6508-D317-7DE2-1E0FC8B72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C06-1615-489A-92CF-D8651F04EB2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A60A1-AE4F-4BEC-B73A-B7C8646AD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EC32F-1667-5DDD-1607-E07D43CFD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23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25CDE-2258-53BB-9139-72A3C5674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23CE1-577E-3C29-7B54-26272C95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C1365-34BA-C018-47EC-8B9856180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E2C06-1615-489A-92CF-D8651F04EB2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81B88-70F3-F48F-BC45-E250B3BCB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E51A-B000-AE4B-9EA3-B856AC66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A74D8F-F07A-452D-8AE8-500CC0CA0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8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26E92-15CD-7440-8864-CB2246722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0285A-08E9-0A97-0D9E-C698218EE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60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DB2F4-0680-4D07-D8C5-6D4B703B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mean to be the same as something else?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2C0E0-2726-3BDC-CF4D-6F6678A6A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100, 100.001</a:t>
            </a:r>
          </a:p>
          <a:p>
            <a:r>
              <a:rPr lang="en-US" dirty="0"/>
              <a:t>If you set a tolerance of 0.005 – these are the same </a:t>
            </a:r>
          </a:p>
          <a:p>
            <a:pPr marL="0" indent="0">
              <a:buNone/>
            </a:pPr>
            <a:r>
              <a:rPr lang="en-US" dirty="0"/>
              <a:t>(100.001-100&lt;0.005)</a:t>
            </a:r>
          </a:p>
          <a:p>
            <a:r>
              <a:rPr lang="en-US" dirty="0"/>
              <a:t>100.000, 100.001, 100.002, 100.003, 100.004, 100.005, 100.006</a:t>
            </a:r>
          </a:p>
          <a:p>
            <a:r>
              <a:rPr lang="en-US" dirty="0"/>
              <a:t>Complexity of calculation grows exponentially as each value must be compared to each other (n</a:t>
            </a:r>
            <a:r>
              <a:rPr lang="en-US" baseline="30000" dirty="0"/>
              <a:t>2 </a:t>
            </a:r>
            <a:r>
              <a:rPr lang="en-US" dirty="0"/>
              <a:t>calculation)</a:t>
            </a:r>
          </a:p>
          <a:p>
            <a:r>
              <a:rPr lang="en-US" dirty="0"/>
              <a:t>100.006 would typically be classed with 100.000 by a technician knowing that there is some degree of instrument “drift” across a run which is acceptable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51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7C7A3-F2FD-8624-022E-9E8BC7B7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Peak alignment algorithm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Sphere">
                <a:extLst>
                  <a:ext uri="{FF2B5EF4-FFF2-40B4-BE49-F238E27FC236}">
                    <a16:creationId xmlns:a16="http://schemas.microsoft.com/office/drawing/2014/main" id="{0CE41B30-6CB3-37D3-A99E-537A19DC21E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30633831"/>
                  </p:ext>
                </p:extLst>
              </p:nvPr>
            </p:nvGraphicFramePr>
            <p:xfrm>
              <a:off x="6358958" y="2191262"/>
              <a:ext cx="2985379" cy="300582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985379" cy="3005826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1533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29962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Sphere">
                <a:extLst>
                  <a:ext uri="{FF2B5EF4-FFF2-40B4-BE49-F238E27FC236}">
                    <a16:creationId xmlns:a16="http://schemas.microsoft.com/office/drawing/2014/main" id="{0CE41B30-6CB3-37D3-A99E-537A19DC21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8958" y="2191262"/>
                <a:ext cx="2985379" cy="3005826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0F6527-9E2A-7A9C-81F3-E106735C5A4E}"/>
              </a:ext>
            </a:extLst>
          </p:cNvPr>
          <p:cNvCxnSpPr>
            <a:cxnSpLocks/>
          </p:cNvCxnSpPr>
          <p:nvPr/>
        </p:nvCxnSpPr>
        <p:spPr>
          <a:xfrm flipV="1">
            <a:off x="7851647" y="2286000"/>
            <a:ext cx="0" cy="1499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2DBED4-57F0-C99C-DF31-6EA5F7713D07}"/>
              </a:ext>
            </a:extLst>
          </p:cNvPr>
          <p:cNvCxnSpPr>
            <a:cxnSpLocks/>
          </p:cNvCxnSpPr>
          <p:nvPr/>
        </p:nvCxnSpPr>
        <p:spPr>
          <a:xfrm flipV="1">
            <a:off x="7854694" y="3145536"/>
            <a:ext cx="1325882" cy="64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D108CE4-B4AB-D967-B584-3DCAD15449ED}"/>
              </a:ext>
            </a:extLst>
          </p:cNvPr>
          <p:cNvCxnSpPr>
            <a:cxnSpLocks/>
          </p:cNvCxnSpPr>
          <p:nvPr/>
        </p:nvCxnSpPr>
        <p:spPr>
          <a:xfrm>
            <a:off x="7854694" y="3785616"/>
            <a:ext cx="908583" cy="954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4F3D442-54CA-E0A7-8429-C8ACD7BCDCDA}"/>
              </a:ext>
            </a:extLst>
          </p:cNvPr>
          <p:cNvSpPr txBox="1"/>
          <p:nvPr/>
        </p:nvSpPr>
        <p:spPr>
          <a:xfrm>
            <a:off x="7646044" y="1946818"/>
            <a:ext cx="2439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CCS – typically 2%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21B8CE-C881-0D00-C75E-3DFFF665056C}"/>
              </a:ext>
            </a:extLst>
          </p:cNvPr>
          <p:cNvSpPr txBox="1"/>
          <p:nvPr/>
        </p:nvSpPr>
        <p:spPr>
          <a:xfrm>
            <a:off x="8833796" y="4654820"/>
            <a:ext cx="267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RT – typically 1 minute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63CA76-8C49-12BB-8F61-D7F841D440C2}"/>
              </a:ext>
            </a:extLst>
          </p:cNvPr>
          <p:cNvSpPr txBox="1"/>
          <p:nvPr/>
        </p:nvSpPr>
        <p:spPr>
          <a:xfrm>
            <a:off x="9180576" y="2899345"/>
            <a:ext cx="253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m/z – typically 0.001%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278437-24F7-CA0E-34BF-E7F5204766FB}"/>
              </a:ext>
            </a:extLst>
          </p:cNvPr>
          <p:cNvSpPr txBox="1"/>
          <p:nvPr/>
        </p:nvSpPr>
        <p:spPr>
          <a:xfrm>
            <a:off x="488666" y="5712619"/>
            <a:ext cx="11288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user defined parameters depending on the performance of the instrument</a:t>
            </a:r>
          </a:p>
          <a:p>
            <a:r>
              <a:rPr lang="en-US" dirty="0"/>
              <a:t>Uses DBSCAN – to my knowledge this is the first application to MS of this algorithm – exceptionally fast</a:t>
            </a:r>
          </a:p>
          <a:p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682A01B-309D-F218-15F9-BE4E1E859182}"/>
              </a:ext>
            </a:extLst>
          </p:cNvPr>
          <p:cNvSpPr/>
          <p:nvPr/>
        </p:nvSpPr>
        <p:spPr>
          <a:xfrm>
            <a:off x="1325880" y="3465576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E5C16D5-5133-F600-B87D-FB04F2432CDE}"/>
              </a:ext>
            </a:extLst>
          </p:cNvPr>
          <p:cNvSpPr/>
          <p:nvPr/>
        </p:nvSpPr>
        <p:spPr>
          <a:xfrm>
            <a:off x="566513" y="2706624"/>
            <a:ext cx="1701614" cy="17007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B10C6DF-223A-B3B5-61E5-11B48760F371}"/>
              </a:ext>
            </a:extLst>
          </p:cNvPr>
          <p:cNvSpPr/>
          <p:nvPr/>
        </p:nvSpPr>
        <p:spPr>
          <a:xfrm>
            <a:off x="1679448" y="2962656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0FC3087-D9C8-68A9-9138-280DD8D9A8C8}"/>
              </a:ext>
            </a:extLst>
          </p:cNvPr>
          <p:cNvSpPr/>
          <p:nvPr/>
        </p:nvSpPr>
        <p:spPr>
          <a:xfrm>
            <a:off x="920081" y="2203704"/>
            <a:ext cx="1701614" cy="17007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4FE9F69-5EE9-93DD-54D4-E30223B27ACB}"/>
              </a:ext>
            </a:extLst>
          </p:cNvPr>
          <p:cNvSpPr/>
          <p:nvPr/>
        </p:nvSpPr>
        <p:spPr>
          <a:xfrm>
            <a:off x="2362615" y="3204669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7C1959-6A47-A327-056C-359E0D3A2E64}"/>
              </a:ext>
            </a:extLst>
          </p:cNvPr>
          <p:cNvSpPr/>
          <p:nvPr/>
        </p:nvSpPr>
        <p:spPr>
          <a:xfrm>
            <a:off x="1603248" y="2418285"/>
            <a:ext cx="1701614" cy="17007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3065C96-EE9A-00D6-DCA1-03159E41458D}"/>
              </a:ext>
            </a:extLst>
          </p:cNvPr>
          <p:cNvSpPr/>
          <p:nvPr/>
        </p:nvSpPr>
        <p:spPr>
          <a:xfrm>
            <a:off x="4294768" y="4027629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F51B82F-3BA8-9416-1F4A-B0F9C9085C7E}"/>
              </a:ext>
            </a:extLst>
          </p:cNvPr>
          <p:cNvSpPr/>
          <p:nvPr/>
        </p:nvSpPr>
        <p:spPr>
          <a:xfrm>
            <a:off x="3535401" y="3215060"/>
            <a:ext cx="1701614" cy="17007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6D3A69-D7F7-5F07-2BAE-63DE48DC49DE}"/>
              </a:ext>
            </a:extLst>
          </p:cNvPr>
          <p:cNvSpPr txBox="1"/>
          <p:nvPr/>
        </p:nvSpPr>
        <p:spPr>
          <a:xfrm>
            <a:off x="876092" y="4711048"/>
            <a:ext cx="1606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Cluster 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5D625C-3C9F-0DA2-4E42-C8DC346765C9}"/>
              </a:ext>
            </a:extLst>
          </p:cNvPr>
          <p:cNvSpPr txBox="1"/>
          <p:nvPr/>
        </p:nvSpPr>
        <p:spPr>
          <a:xfrm>
            <a:off x="3582852" y="5080380"/>
            <a:ext cx="1606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Isolated point</a:t>
            </a:r>
          </a:p>
        </p:txBody>
      </p:sp>
    </p:spTree>
    <p:extLst>
      <p:ext uri="{BB962C8B-B14F-4D97-AF65-F5344CB8AC3E}">
        <p14:creationId xmlns:p14="http://schemas.microsoft.com/office/powerpoint/2010/main" val="458888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95FE-7389-D231-732A-8DCB0E1A5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potentially novel? Maybe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6F61C0-A075-E9AC-66D3-D0B8D92057D7}"/>
              </a:ext>
            </a:extLst>
          </p:cNvPr>
          <p:cNvCxnSpPr>
            <a:cxnSpLocks/>
          </p:cNvCxnSpPr>
          <p:nvPr/>
        </p:nvCxnSpPr>
        <p:spPr>
          <a:xfrm>
            <a:off x="1711452" y="4352542"/>
            <a:ext cx="876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BFF4E9B-4F2A-5765-E481-50AEF6A43202}"/>
              </a:ext>
            </a:extLst>
          </p:cNvPr>
          <p:cNvSpPr txBox="1"/>
          <p:nvPr/>
        </p:nvSpPr>
        <p:spPr>
          <a:xfrm>
            <a:off x="5039868" y="4352542"/>
            <a:ext cx="211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m/z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953C99-45C1-9379-BB2A-97DD52C0FF34}"/>
              </a:ext>
            </a:extLst>
          </p:cNvPr>
          <p:cNvSpPr/>
          <p:nvPr/>
        </p:nvSpPr>
        <p:spPr>
          <a:xfrm>
            <a:off x="1592580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30928D8-1CF9-7401-55D8-1901FCB5219B}"/>
              </a:ext>
            </a:extLst>
          </p:cNvPr>
          <p:cNvSpPr/>
          <p:nvPr/>
        </p:nvSpPr>
        <p:spPr>
          <a:xfrm>
            <a:off x="2557272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2E7CA1-7011-CBCA-AEC1-A4220399BCD6}"/>
              </a:ext>
            </a:extLst>
          </p:cNvPr>
          <p:cNvSpPr/>
          <p:nvPr/>
        </p:nvSpPr>
        <p:spPr>
          <a:xfrm>
            <a:off x="3521964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A91461-DF17-1E25-E711-4A12ACA03109}"/>
              </a:ext>
            </a:extLst>
          </p:cNvPr>
          <p:cNvSpPr/>
          <p:nvPr/>
        </p:nvSpPr>
        <p:spPr>
          <a:xfrm>
            <a:off x="4486656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6E4C381-4BC1-7C31-F4D0-FDECEEE24004}"/>
              </a:ext>
            </a:extLst>
          </p:cNvPr>
          <p:cNvSpPr/>
          <p:nvPr/>
        </p:nvSpPr>
        <p:spPr>
          <a:xfrm>
            <a:off x="5451348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C10F38-EB68-C5C1-3483-A758F8155978}"/>
              </a:ext>
            </a:extLst>
          </p:cNvPr>
          <p:cNvSpPr/>
          <p:nvPr/>
        </p:nvSpPr>
        <p:spPr>
          <a:xfrm>
            <a:off x="6416040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72360A2-D071-73BD-E1EC-16C90D324F0C}"/>
              </a:ext>
            </a:extLst>
          </p:cNvPr>
          <p:cNvSpPr/>
          <p:nvPr/>
        </p:nvSpPr>
        <p:spPr>
          <a:xfrm>
            <a:off x="7380732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3DA5FD0-FF81-F944-165D-7CE3E17D63DB}"/>
              </a:ext>
            </a:extLst>
          </p:cNvPr>
          <p:cNvSpPr/>
          <p:nvPr/>
        </p:nvSpPr>
        <p:spPr>
          <a:xfrm>
            <a:off x="8345424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A0E0B7-6AFA-046B-1AB7-60F05CCF3399}"/>
              </a:ext>
            </a:extLst>
          </p:cNvPr>
          <p:cNvSpPr/>
          <p:nvPr/>
        </p:nvSpPr>
        <p:spPr>
          <a:xfrm>
            <a:off x="9310116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BF66AC5-B2C2-2936-680B-8F15F1063FAB}"/>
              </a:ext>
            </a:extLst>
          </p:cNvPr>
          <p:cNvSpPr/>
          <p:nvPr/>
        </p:nvSpPr>
        <p:spPr>
          <a:xfrm>
            <a:off x="10274808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B7A6DB-02C3-2C93-C750-B1A74E3B56CB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2004060" y="2967225"/>
            <a:ext cx="5532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74CC618-2411-F117-84C6-338B114E1F87}"/>
              </a:ext>
            </a:extLst>
          </p:cNvPr>
          <p:cNvSpPr txBox="1"/>
          <p:nvPr/>
        </p:nvSpPr>
        <p:spPr>
          <a:xfrm>
            <a:off x="1878330" y="2522792"/>
            <a:ext cx="80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9ppm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F4DE6-E783-7136-C586-9B86311639D1}"/>
              </a:ext>
            </a:extLst>
          </p:cNvPr>
          <p:cNvSpPr txBox="1"/>
          <p:nvPr/>
        </p:nvSpPr>
        <p:spPr>
          <a:xfrm>
            <a:off x="1064514" y="3160697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Within margin of error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FFDC18-FB68-0A44-1EE3-31ACA7F9ABBC}"/>
              </a:ext>
            </a:extLst>
          </p:cNvPr>
          <p:cNvCxnSpPr>
            <a:cxnSpLocks/>
          </p:cNvCxnSpPr>
          <p:nvPr/>
        </p:nvCxnSpPr>
        <p:spPr>
          <a:xfrm>
            <a:off x="2004060" y="3616449"/>
            <a:ext cx="82707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6F21B35-0070-1B2B-B9A3-2A5D8C292F08}"/>
              </a:ext>
            </a:extLst>
          </p:cNvPr>
          <p:cNvSpPr txBox="1"/>
          <p:nvPr/>
        </p:nvSpPr>
        <p:spPr>
          <a:xfrm>
            <a:off x="2839212" y="3549316"/>
            <a:ext cx="624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81ppm- points still classed as being in the same “cluster”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55D1C8-38F7-BE42-F56F-CAD6B8C6C0E9}"/>
              </a:ext>
            </a:extLst>
          </p:cNvPr>
          <p:cNvSpPr txBox="1"/>
          <p:nvPr/>
        </p:nvSpPr>
        <p:spPr>
          <a:xfrm>
            <a:off x="0" y="4757503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Results in anomalously large clusters – features which aren’t related are grouped together due to this drifting effect</a:t>
            </a:r>
          </a:p>
          <a:p>
            <a:r>
              <a:rPr lang="en-US" dirty="0"/>
              <a:t>However, instrument performance is known to gradually change with time – it rarely remains within the tolerance for the entire run requiring manual intervention (tuning, recalibration)</a:t>
            </a:r>
          </a:p>
        </p:txBody>
      </p:sp>
    </p:spTree>
    <p:extLst>
      <p:ext uri="{BB962C8B-B14F-4D97-AF65-F5344CB8AC3E}">
        <p14:creationId xmlns:p14="http://schemas.microsoft.com/office/powerpoint/2010/main" val="2265446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560A3-4FBC-CDB1-3848-8EF09929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Drift tolerance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76F8A3-6C07-DF9F-7978-F2D12557BB80}"/>
              </a:ext>
            </a:extLst>
          </p:cNvPr>
          <p:cNvCxnSpPr>
            <a:cxnSpLocks/>
          </p:cNvCxnSpPr>
          <p:nvPr/>
        </p:nvCxnSpPr>
        <p:spPr>
          <a:xfrm>
            <a:off x="1711452" y="4352542"/>
            <a:ext cx="876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225F9AC-0D09-D9D3-0A97-19C3A2547368}"/>
              </a:ext>
            </a:extLst>
          </p:cNvPr>
          <p:cNvSpPr txBox="1"/>
          <p:nvPr/>
        </p:nvSpPr>
        <p:spPr>
          <a:xfrm>
            <a:off x="5039868" y="4352542"/>
            <a:ext cx="211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m/z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FC3B1A-008C-1077-75A3-CB7BC1A6AF02}"/>
              </a:ext>
            </a:extLst>
          </p:cNvPr>
          <p:cNvSpPr/>
          <p:nvPr/>
        </p:nvSpPr>
        <p:spPr>
          <a:xfrm>
            <a:off x="1592580" y="2761485"/>
            <a:ext cx="411480" cy="41148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30BD641-4C5F-9843-7164-F06AC72691AC}"/>
              </a:ext>
            </a:extLst>
          </p:cNvPr>
          <p:cNvSpPr/>
          <p:nvPr/>
        </p:nvSpPr>
        <p:spPr>
          <a:xfrm>
            <a:off x="2557272" y="2761485"/>
            <a:ext cx="411480" cy="41148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41351F5-1FA3-2BE5-E41F-E309699F9041}"/>
              </a:ext>
            </a:extLst>
          </p:cNvPr>
          <p:cNvSpPr/>
          <p:nvPr/>
        </p:nvSpPr>
        <p:spPr>
          <a:xfrm>
            <a:off x="3521964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882529-1001-DB5B-D30F-BE6934FB8134}"/>
              </a:ext>
            </a:extLst>
          </p:cNvPr>
          <p:cNvSpPr/>
          <p:nvPr/>
        </p:nvSpPr>
        <p:spPr>
          <a:xfrm>
            <a:off x="4486656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F70380-5B3B-D169-0E88-CF14D40A4F08}"/>
              </a:ext>
            </a:extLst>
          </p:cNvPr>
          <p:cNvSpPr/>
          <p:nvPr/>
        </p:nvSpPr>
        <p:spPr>
          <a:xfrm>
            <a:off x="5451348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0C59248-B205-9E4B-F4F9-54FB27344167}"/>
              </a:ext>
            </a:extLst>
          </p:cNvPr>
          <p:cNvSpPr/>
          <p:nvPr/>
        </p:nvSpPr>
        <p:spPr>
          <a:xfrm>
            <a:off x="6416040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4540BA-367B-0D1D-4B67-1E7C63FC0D85}"/>
              </a:ext>
            </a:extLst>
          </p:cNvPr>
          <p:cNvSpPr/>
          <p:nvPr/>
        </p:nvSpPr>
        <p:spPr>
          <a:xfrm>
            <a:off x="7380732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8D0CF4-95E5-2659-9522-527DA353C393}"/>
              </a:ext>
            </a:extLst>
          </p:cNvPr>
          <p:cNvSpPr/>
          <p:nvPr/>
        </p:nvSpPr>
        <p:spPr>
          <a:xfrm>
            <a:off x="8345424" y="2761485"/>
            <a:ext cx="411480" cy="411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9D6EC12-F06F-EE38-A133-E94BB0449F87}"/>
              </a:ext>
            </a:extLst>
          </p:cNvPr>
          <p:cNvSpPr/>
          <p:nvPr/>
        </p:nvSpPr>
        <p:spPr>
          <a:xfrm>
            <a:off x="9310116" y="2761485"/>
            <a:ext cx="411480" cy="41148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F54571-5434-B46E-E03A-B95A141F948E}"/>
              </a:ext>
            </a:extLst>
          </p:cNvPr>
          <p:cNvSpPr/>
          <p:nvPr/>
        </p:nvSpPr>
        <p:spPr>
          <a:xfrm>
            <a:off x="10274808" y="2761485"/>
            <a:ext cx="411480" cy="41148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694AD02-0FAB-1C0A-632D-F4C5734885D2}"/>
              </a:ext>
            </a:extLst>
          </p:cNvPr>
          <p:cNvCxnSpPr>
            <a:cxnSpLocks/>
          </p:cNvCxnSpPr>
          <p:nvPr/>
        </p:nvCxnSpPr>
        <p:spPr>
          <a:xfrm>
            <a:off x="6095998" y="3311625"/>
            <a:ext cx="26609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AC67B8-E650-75C3-9229-21483E9DFD17}"/>
              </a:ext>
            </a:extLst>
          </p:cNvPr>
          <p:cNvSpPr txBox="1"/>
          <p:nvPr/>
        </p:nvSpPr>
        <p:spPr>
          <a:xfrm>
            <a:off x="4772406" y="2426780"/>
            <a:ext cx="3019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Median value calculated</a:t>
            </a:r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883B5E9A-D530-E093-726A-796A5ABE4DE5}"/>
              </a:ext>
            </a:extLst>
          </p:cNvPr>
          <p:cNvSpPr/>
          <p:nvPr/>
        </p:nvSpPr>
        <p:spPr>
          <a:xfrm rot="2693115">
            <a:off x="5907783" y="2796110"/>
            <a:ext cx="365760" cy="369332"/>
          </a:xfrm>
          <a:prstGeom prst="plus">
            <a:avLst>
              <a:gd name="adj" fmla="val 310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3D0D24-C1B0-3CE2-146B-EB59BCBEBB69}"/>
              </a:ext>
            </a:extLst>
          </p:cNvPr>
          <p:cNvSpPr txBox="1"/>
          <p:nvPr/>
        </p:nvSpPr>
        <p:spPr>
          <a:xfrm>
            <a:off x="6095999" y="3370257"/>
            <a:ext cx="5809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Drift tolerance</a:t>
            </a:r>
          </a:p>
          <a:p>
            <a:r>
              <a:rPr lang="en-US" dirty="0"/>
              <a:t>(user defined integer * maximum point to point tolerance)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1DABC6-29C1-B1A7-8380-033965F9B11F}"/>
              </a:ext>
            </a:extLst>
          </p:cNvPr>
          <p:cNvCxnSpPr>
            <a:cxnSpLocks/>
          </p:cNvCxnSpPr>
          <p:nvPr/>
        </p:nvCxnSpPr>
        <p:spPr>
          <a:xfrm flipH="1">
            <a:off x="3521964" y="3311625"/>
            <a:ext cx="25648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E91EE99-7BCA-28D2-3641-972938A490E5}"/>
              </a:ext>
            </a:extLst>
          </p:cNvPr>
          <p:cNvCxnSpPr>
            <a:endCxn id="6" idx="0"/>
          </p:cNvCxnSpPr>
          <p:nvPr/>
        </p:nvCxnSpPr>
        <p:spPr>
          <a:xfrm flipH="1">
            <a:off x="1798320" y="1865376"/>
            <a:ext cx="423672" cy="896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DE73B89-CE35-B64C-705D-AE7AC0839646}"/>
              </a:ext>
            </a:extLst>
          </p:cNvPr>
          <p:cNvSpPr txBox="1"/>
          <p:nvPr/>
        </p:nvSpPr>
        <p:spPr>
          <a:xfrm>
            <a:off x="2221992" y="1506023"/>
            <a:ext cx="3715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Points defined as noise now</a:t>
            </a:r>
          </a:p>
        </p:txBody>
      </p:sp>
    </p:spTree>
    <p:extLst>
      <p:ext uri="{BB962C8B-B14F-4D97-AF65-F5344CB8AC3E}">
        <p14:creationId xmlns:p14="http://schemas.microsoft.com/office/powerpoint/2010/main" val="59050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59E77-098C-612C-383D-3F1BCFAFD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action</a:t>
            </a:r>
          </a:p>
        </p:txBody>
      </p:sp>
      <p:pic>
        <p:nvPicPr>
          <p:cNvPr id="11" name="Picture 10" descr="A red and blue dots on a white surface&#10;&#10;Description automatically generated">
            <a:extLst>
              <a:ext uri="{FF2B5EF4-FFF2-40B4-BE49-F238E27FC236}">
                <a16:creationId xmlns:a16="http://schemas.microsoft.com/office/drawing/2014/main" id="{5509169C-68B6-8542-3CF7-575176772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0" t="26881" r="33056" b="8713"/>
          <a:stretch/>
        </p:blipFill>
        <p:spPr>
          <a:xfrm>
            <a:off x="926590" y="1690688"/>
            <a:ext cx="4617720" cy="383133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E3A7D4-4515-9E28-6F35-C93BD2EC4E5A}"/>
              </a:ext>
            </a:extLst>
          </p:cNvPr>
          <p:cNvCxnSpPr>
            <a:cxnSpLocks/>
          </p:cNvCxnSpPr>
          <p:nvPr/>
        </p:nvCxnSpPr>
        <p:spPr>
          <a:xfrm>
            <a:off x="2679192" y="1792224"/>
            <a:ext cx="64008" cy="28620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EC7F363-D7D2-58FB-B21D-AD549E7AA95D}"/>
              </a:ext>
            </a:extLst>
          </p:cNvPr>
          <p:cNvSpPr txBox="1"/>
          <p:nvPr/>
        </p:nvSpPr>
        <p:spPr>
          <a:xfrm>
            <a:off x="1806700" y="5879592"/>
            <a:ext cx="285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12.7% min-max spread</a:t>
            </a:r>
          </a:p>
        </p:txBody>
      </p:sp>
      <p:pic>
        <p:nvPicPr>
          <p:cNvPr id="19" name="Picture 18" descr="A diagram of a red and blue box&#10;&#10;Description automatically generated">
            <a:extLst>
              <a:ext uri="{FF2B5EF4-FFF2-40B4-BE49-F238E27FC236}">
                <a16:creationId xmlns:a16="http://schemas.microsoft.com/office/drawing/2014/main" id="{04B9C134-4528-038B-4674-688776CA1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00" t="26020" r="33625" b="8651"/>
          <a:stretch/>
        </p:blipFill>
        <p:spPr>
          <a:xfrm>
            <a:off x="6647692" y="1690688"/>
            <a:ext cx="4507992" cy="388620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FC9F0F-2851-3C13-20DA-68037674D868}"/>
              </a:ext>
            </a:extLst>
          </p:cNvPr>
          <p:cNvCxnSpPr>
            <a:cxnSpLocks/>
          </p:cNvCxnSpPr>
          <p:nvPr/>
        </p:nvCxnSpPr>
        <p:spPr>
          <a:xfrm>
            <a:off x="9790176" y="2714816"/>
            <a:ext cx="0" cy="7141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05A288F-1B4F-3ECB-C550-A8E67859B08B}"/>
              </a:ext>
            </a:extLst>
          </p:cNvPr>
          <p:cNvSpPr txBox="1"/>
          <p:nvPr/>
        </p:nvSpPr>
        <p:spPr>
          <a:xfrm>
            <a:off x="6647692" y="5879592"/>
            <a:ext cx="5544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4.6% min-max spread</a:t>
            </a:r>
          </a:p>
          <a:p>
            <a:r>
              <a:rPr lang="en-US" dirty="0"/>
              <a:t>Totally user defined based on instrument performance</a:t>
            </a:r>
          </a:p>
          <a:p>
            <a:r>
              <a:rPr lang="en-US" dirty="0"/>
              <a:t>Good for things like SLIMS with known drift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4F2743-E4C7-493F-2917-EC65451B9554}"/>
              </a:ext>
            </a:extLst>
          </p:cNvPr>
          <p:cNvSpPr txBox="1"/>
          <p:nvPr/>
        </p:nvSpPr>
        <p:spPr>
          <a:xfrm>
            <a:off x="7927848" y="1422892"/>
            <a:ext cx="2423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1.2 drift tolerance</a:t>
            </a:r>
          </a:p>
        </p:txBody>
      </p:sp>
    </p:spTree>
    <p:extLst>
      <p:ext uri="{BB962C8B-B14F-4D97-AF65-F5344CB8AC3E}">
        <p14:creationId xmlns:p14="http://schemas.microsoft.com/office/powerpoint/2010/main" val="482864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269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What does it mean to be the same as something else?</vt:lpstr>
      <vt:lpstr>Peak alignment algorithm</vt:lpstr>
      <vt:lpstr>Something potentially novel? Maybe</vt:lpstr>
      <vt:lpstr>Drift tolerance</vt:lpstr>
      <vt:lpstr>In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Kudzin, Gregory Phillip</dc:creator>
  <cp:lastModifiedBy>Kudzin, Gregory Phillip</cp:lastModifiedBy>
  <cp:revision>1</cp:revision>
  <dcterms:created xsi:type="dcterms:W3CDTF">2025-01-16T14:11:43Z</dcterms:created>
  <dcterms:modified xsi:type="dcterms:W3CDTF">2025-01-16T15:50:31Z</dcterms:modified>
</cp:coreProperties>
</file>